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AZ-305: Designing Microsoft Azure</a:t>
            </a:r>
            <a:br/>
            <a:r>
              <a:t>Infrastructure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B900"/>
                </a:solidFill>
                <a:latin typeface="Segoe UI"/>
              </a:defRPr>
            </a:pPr>
            <a:r>
              <a:t>Tim Warner  |  O'Reilly Live Learning  | 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Microsoft MVP  |  MCT  |  Azure Solutions Architect Expert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About the Instructor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Tim Warner: </a:t>
            </a:r>
            <a:r>
              <a:rPr sz="2000">
                <a:solidFill>
                  <a:srgbClr val="000000"/>
                </a:solidFill>
                <a:latin typeface="Segoe UI"/>
              </a:rPr>
              <a:t>Microsoft MVP, Microsoft Certified Trainer (MCT)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Certification: </a:t>
            </a:r>
            <a:r>
              <a:rPr sz="2000">
                <a:solidFill>
                  <a:srgbClr val="000000"/>
                </a:solidFill>
                <a:latin typeface="Segoe UI"/>
              </a:rPr>
              <a:t>Azure Solutions Architect Expert (AZ-305)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Platform: </a:t>
            </a:r>
            <a:r>
              <a:rPr sz="2000">
                <a:solidFill>
                  <a:srgbClr val="000000"/>
                </a:solidFill>
                <a:latin typeface="Segoe UI"/>
              </a:rPr>
              <a:t>O'Reilly Live Learning instructor -- courses on Azure, DevOps, and cloud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Experience: </a:t>
            </a:r>
            <a:r>
              <a:rPr sz="2000">
                <a:solidFill>
                  <a:srgbClr val="000000"/>
                </a:solidFill>
                <a:latin typeface="Segoe UI"/>
              </a:rPr>
              <a:t>20+ years in IT training and consulting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Contact: </a:t>
            </a:r>
            <a:r>
              <a:rPr sz="2000">
                <a:solidFill>
                  <a:srgbClr val="000000"/>
                </a:solidFill>
                <a:latin typeface="Segoe UI"/>
              </a:rPr>
              <a:t>timothywarner316@gmail.com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Social: </a:t>
            </a:r>
            <a:r>
              <a:rPr sz="2000">
                <a:solidFill>
                  <a:srgbClr val="000000"/>
                </a:solidFill>
                <a:latin typeface="Segoe UI"/>
              </a:rPr>
              <a:t>@TechTrainerTim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GitHub: </a:t>
            </a:r>
            <a:r>
              <a:rPr sz="2000">
                <a:solidFill>
                  <a:srgbClr val="000000"/>
                </a:solidFill>
                <a:latin typeface="Segoe UI"/>
              </a:rPr>
              <a:t>github.com/timothywarner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Course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Segment 1: </a:t>
            </a:r>
            <a:r>
              <a:rPr sz="2000">
                <a:solidFill>
                  <a:srgbClr val="000000"/>
                </a:solidFill>
                <a:latin typeface="Segoe UI"/>
              </a:rPr>
              <a:t>Design identity, governance, and monitoring solutions (25-30%)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Segment 2: </a:t>
            </a:r>
            <a:r>
              <a:rPr sz="2000">
                <a:solidFill>
                  <a:srgbClr val="000000"/>
                </a:solidFill>
                <a:latin typeface="Segoe UI"/>
              </a:rPr>
              <a:t>Design data storage solutions for relational, non-relational, and unstructured data (20-25%)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Segment 3: </a:t>
            </a:r>
            <a:r>
              <a:rPr sz="2000">
                <a:solidFill>
                  <a:srgbClr val="000000"/>
                </a:solidFill>
                <a:latin typeface="Segoe UI"/>
              </a:rPr>
              <a:t>Design business continuity, high availability, and disaster recovery solutions (15-20%)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Segment 4: </a:t>
            </a:r>
            <a:r>
              <a:rPr sz="2000">
                <a:solidFill>
                  <a:srgbClr val="000000"/>
                </a:solidFill>
                <a:latin typeface="Segoe UI"/>
              </a:rPr>
              <a:t>Design compute and application architecture solutions (~17%)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rPr sz="2000" b="1">
                <a:solidFill>
                  <a:srgbClr val="000000"/>
                </a:solidFill>
                <a:latin typeface="Segoe UI"/>
              </a:rPr>
              <a:t>• Segment 5: </a:t>
            </a:r>
            <a:r>
              <a:rPr sz="2000">
                <a:solidFill>
                  <a:srgbClr val="000000"/>
                </a:solidFill>
                <a:latin typeface="Segoe UI"/>
              </a:rPr>
              <a:t>Design networking solutions and plan migrations (~18%)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Exam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AZ-305 Key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0058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Exam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AZ-305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Designing Microsoft Azure Infrastructure Solutions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700 / 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120 minutes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~40-60 (multiple choice, case studies, drag-and-drop)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Last Updated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October 18,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Prerequisite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AZ-104 recommended (not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$165 USD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Agenda &amp;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502920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9:00 - 9:55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Segment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Identity, Governance &amp;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10:05 - 10:55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Segment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 Storage Solutions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20-25%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11:05 - 11:55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Segment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Business Continuity &amp;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12:05 - 12:55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Segment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Compute &amp; Application Architecture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~17%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1:05 - 1:50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Segment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Networking &amp; Migrations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Segoe UI"/>
              </a:defRPr>
            </a:pPr>
            <a:r>
              <a:t>10-minute breaks between each segment. All times Eastern.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Cross-Cutting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Three pillars that appear in EVERY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Well-Architected Framework: </a:t>
            </a:r>
            <a:r>
              <a:rPr sz="1800">
                <a:solidFill>
                  <a:srgbClr val="000000"/>
                </a:solidFill>
                <a:latin typeface="Segoe UI"/>
              </a:rPr>
              <a:t>The lens through which every architecture decision is evaluated -- reliability, security, cost, operations, performance.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Zero Trust: </a:t>
            </a:r>
            <a:r>
              <a:rPr sz="1800">
                <a:solidFill>
                  <a:srgbClr val="000000"/>
                </a:solidFill>
                <a:latin typeface="Segoe UI"/>
              </a:rPr>
              <a:t>"Never trust, always verify." Assume breach, verify explicitly, use least-privilege access. This model drives networking, identity, and data design.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Managed Identity: </a:t>
            </a:r>
            <a:r>
              <a:rPr sz="1800">
                <a:solidFill>
                  <a:srgbClr val="000000"/>
                </a:solidFill>
                <a:latin typeface="Segoe UI"/>
              </a:rPr>
              <a:t>Eliminate secrets from code. System-assigned and user-assigned identities replace connection strings, API keys, and passwords.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Well-Architected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5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Pillar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Question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Resiliency &amp;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Can the system recover from failures?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Threat protection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How do we protect data and systems?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Are we spending only what we need?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Operational Excellence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Operations processes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Can we monitor and improve?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Performance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Scaling &amp;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Does it meet demand efficiently?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How to Use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Decision Matrices: </a:t>
            </a:r>
            <a:r>
              <a:rPr sz="1800">
                <a:solidFill>
                  <a:srgbClr val="000000"/>
                </a:solidFill>
                <a:latin typeface="Segoe UI"/>
              </a:rPr>
              <a:t>Map directly to exam question logic -- learn the selection criteria, not just the services.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Architecture Diagrams: </a:t>
            </a:r>
            <a:r>
              <a:rPr sz="1800">
                <a:solidFill>
                  <a:srgbClr val="000000"/>
                </a:solidFill>
                <a:latin typeface="Segoe UI"/>
              </a:rPr>
              <a:t>Visual patterns that appear in case studies -- understand component relationships.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Exam Tips (pink slides): </a:t>
            </a:r>
            <a:r>
              <a:rPr sz="1800">
                <a:solidFill>
                  <a:srgbClr val="000000"/>
                </a:solidFill>
                <a:latin typeface="Segoe UI"/>
              </a:rPr>
              <a:t>Specific test-day tactics -- common traps, default answers, and elimination strategies.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Demo Callouts: </a:t>
            </a:r>
            <a:r>
              <a:rPr sz="1800">
                <a:solidFill>
                  <a:srgbClr val="000000"/>
                </a:solidFill>
                <a:latin typeface="Segoe UI"/>
              </a:rPr>
              <a:t>Hands-on exercises you can replicate in your own Azure subscription or sandbox.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Review Questions: </a:t>
            </a:r>
            <a:r>
              <a:rPr sz="1800">
                <a:solidFill>
                  <a:srgbClr val="000000"/>
                </a:solidFill>
                <a:latin typeface="Segoe UI"/>
              </a:rPr>
              <a:t>Scenario-based practice at the end of each segment -- mirrors the actual exam format.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Ask Questions: </a:t>
            </a:r>
            <a:r>
              <a:rPr sz="1800">
                <a:solidFill>
                  <a:srgbClr val="000000"/>
                </a:solidFill>
                <a:latin typeface="Segoe UI"/>
              </a:rPr>
              <a:t>Use the chat throughout. Real-time Q&amp;A helps everyone 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Identity, Governance</a:t>
            </a:r>
            <a:br/>
            <a:r>
              <a:t>&amp;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93192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002050"/>
                </a:solidFill>
                <a:latin typeface="Segoe UI Semibold"/>
              </a:defRPr>
            </a:pPr>
            <a:r>
              <a:t>25-30% of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1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authentication and authorization solutions using Microsoft Entra 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governance solutions with management groups, policies, and RBAC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monitoring and logging solutions with Azure Monitor, Sentinel, and Application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secure access to secrets, keys, and certificates using Key Vault with managed identities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Microsoft Entra ID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Tenant: </a:t>
            </a:r>
            <a:r>
              <a:rPr sz="1800">
                <a:solidFill>
                  <a:srgbClr val="000000"/>
                </a:solidFill>
                <a:latin typeface="Segoe UI"/>
              </a:rPr>
              <a:t>A dedicated instance of Entra ID representing an organization. Each tenant has a unique directory.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Directory: </a:t>
            </a:r>
            <a:r>
              <a:rPr sz="1800">
                <a:solidFill>
                  <a:srgbClr val="000000"/>
                </a:solidFill>
                <a:latin typeface="Segoe UI"/>
              </a:rPr>
              <a:t>The identity store within a tenant -- users, groups, applications, service principals.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Subscription: </a:t>
            </a:r>
            <a:r>
              <a:rPr sz="1800">
                <a:solidFill>
                  <a:srgbClr val="000000"/>
                </a:solidFill>
                <a:latin typeface="Segoe UI"/>
              </a:rPr>
              <a:t>A billing boundary linked to one tenant. Multiple subscriptions per tenant, one tenant per subscription.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CRITICAL RENAME: </a:t>
            </a:r>
            <a:r>
              <a:rPr sz="1800">
                <a:solidFill>
                  <a:srgbClr val="000000"/>
                </a:solidFill>
                <a:latin typeface="Segoe UI"/>
              </a:rPr>
              <a:t>'Azure AD' is now 'Microsoft Entra ID'. The exam uses the NEW naming exclusively.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Entra External ID: </a:t>
            </a:r>
            <a:r>
              <a:rPr sz="1800">
                <a:solidFill>
                  <a:srgbClr val="000000"/>
                </a:solidFill>
                <a:latin typeface="Segoe UI"/>
              </a:rPr>
              <a:t>Replaces Azure AD B2C for consumer-facing identity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Authentication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47472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Detail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Employees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Microsoft Entra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Cloud-native, MFA, Conditional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Partner organizations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 External ID (B2B)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Invite external users, cross-tenant access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Consumer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 External ID (B2C)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Custom sign-up/sign-in, social logins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Hybrid identity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Entra Connect / Cloud Sync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Sync on-prem AD to cloud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Federated /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On-prem federation, claims-based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Multi-tenant SaaS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Multi-tenant app registration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Consent framework, service principals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Hybrid Identity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01168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Passwords in Cloud?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Password Hash Sync (PHS)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Hash of hash synced to Entra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(hashed)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DEFAULT -- start 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Pass-Through Auth (PTA)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Auth request forwarded to on-prem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Regulatory requirement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Federation (AD FS)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Redirect to on-prem AD FS farm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Only if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Exam Default: PHS is the recommended starting point. Cloud Sync is the modern lightweight alternative to Entra Connect.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Conditional Access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Policy = Assignments + Conditions +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Signals (Inputs): </a:t>
            </a:r>
            <a:r>
              <a:rPr sz="1700">
                <a:solidFill>
                  <a:srgbClr val="000000"/>
                </a:solidFill>
                <a:latin typeface="Segoe UI"/>
              </a:rPr>
              <a:t>User/group, Cloud app, Location (named/IP), Device platform &amp; state, Sign-in risk level (Identity Protection)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Decisions (Grant Controls): </a:t>
            </a:r>
            <a:r>
              <a:rPr sz="1700">
                <a:solidFill>
                  <a:srgbClr val="000000"/>
                </a:solidFill>
                <a:latin typeface="Segoe UI"/>
              </a:rPr>
              <a:t>Allow, Block, Require MFA, Require compliant device, Require Hybrid Entra joined, Require app protection policy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Session Controls: </a:t>
            </a:r>
            <a:r>
              <a:rPr sz="1700">
                <a:solidFill>
                  <a:srgbClr val="000000"/>
                </a:solidFill>
                <a:latin typeface="Segoe UI"/>
              </a:rPr>
              <a:t>App-enforced restrictions, Conditional Access App Control (MCAS), Sign-in frequency, Persistent browser session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Key Principle: </a:t>
            </a:r>
            <a:r>
              <a:rPr sz="1700">
                <a:solidFill>
                  <a:srgbClr val="000000"/>
                </a:solidFill>
                <a:latin typeface="Segoe UI"/>
              </a:rPr>
              <a:t>Policies are additive. If ANY policy blocks, access is denied. Most restrictive policy wins.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Report-Only Mode: </a:t>
            </a:r>
            <a:r>
              <a:rPr sz="1700">
                <a:solidFill>
                  <a:srgbClr val="000000"/>
                </a:solidFill>
                <a:latin typeface="Segoe UI"/>
              </a:rPr>
              <a:t>Test policies without enforcement. Always use this before enabling enforcement.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Named Locations: </a:t>
            </a:r>
            <a:r>
              <a:rPr sz="1700">
                <a:solidFill>
                  <a:srgbClr val="000000"/>
                </a:solidFill>
                <a:latin typeface="Segoe UI"/>
              </a:rPr>
              <a:t>Define trusted IPs/countries. Combine with policies to skip MFA on corporate networks.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Managed Identity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Eliminate secrets from your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38912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System-Assigned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User-Assigned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Tied to resource (deleted together)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Independent (manage separately)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Sharing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1:1 with resource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1:Many across resources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Single resource needs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Multiple resources share same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Enable on the resource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Create as standalone resource, then assign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 accessing Key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Multiple VMs accessing same storage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Exam Default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Start with system-assigned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Use when sharing is needed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RBAC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Scope Hierarchy: </a:t>
            </a:r>
            <a:r>
              <a:rPr sz="1700">
                <a:solidFill>
                  <a:srgbClr val="000000"/>
                </a:solidFill>
                <a:latin typeface="Segoe UI"/>
              </a:rPr>
              <a:t>Management Group &gt; Subscription &gt; Resource Group &gt; Resource. Permissions inherit downward.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Built-in Roles: </a:t>
            </a:r>
            <a:r>
              <a:rPr sz="1700">
                <a:solidFill>
                  <a:srgbClr val="000000"/>
                </a:solidFill>
                <a:latin typeface="Segoe UI"/>
              </a:rPr>
              <a:t>Owner (full + assign), Contributor (full - assign), Reader (view only), User Access Admin (assign only).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Custom Roles: </a:t>
            </a:r>
            <a:r>
              <a:rPr sz="1700">
                <a:solidFill>
                  <a:srgbClr val="000000"/>
                </a:solidFill>
                <a:latin typeface="Segoe UI"/>
              </a:rPr>
              <a:t>JSON definition with Actions, NotActions, DataActions, NotDataActions. Assignable at MG, Sub, or RG scope.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Deny Assignments: </a:t>
            </a:r>
            <a:r>
              <a:rPr sz="1700">
                <a:solidFill>
                  <a:srgbClr val="000000"/>
                </a:solidFill>
                <a:latin typeface="Segoe UI"/>
              </a:rPr>
              <a:t>Override RBAC allows. Created by Blueprints and managed apps. Cannot create directly.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Best Practice: </a:t>
            </a:r>
            <a:r>
              <a:rPr sz="1700">
                <a:solidFill>
                  <a:srgbClr val="000000"/>
                </a:solidFill>
                <a:latin typeface="Segoe UI"/>
              </a:rPr>
              <a:t>Assign roles to GROUPS, not individual users. Use PIM for just-in-time elevation.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Scope Tip: </a:t>
            </a:r>
            <a:r>
              <a:rPr sz="1700">
                <a:solidFill>
                  <a:srgbClr val="000000"/>
                </a:solidFill>
                <a:latin typeface="Segoe UI"/>
              </a:rPr>
              <a:t>Assign at the NARROWEST scope possible. If access is needed at RG level, do not assign at subscription level.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PIM &amp; Identity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Privileged Identity Management (PIM): </a:t>
            </a:r>
            <a:r>
              <a:rPr sz="1700">
                <a:solidFill>
                  <a:srgbClr val="000000"/>
                </a:solidFill>
                <a:latin typeface="Segoe UI"/>
              </a:rPr>
              <a:t>Just-in-time (JIT) role activation. Eligible vs Active assignments.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PIM Workflow: </a:t>
            </a:r>
            <a:r>
              <a:rPr sz="1700">
                <a:solidFill>
                  <a:srgbClr val="000000"/>
                </a:solidFill>
                <a:latin typeface="Segoe UI"/>
              </a:rPr>
              <a:t>User requests activation -&gt; Approval (optional) -&gt; Time-limited access (e.g., 8 hours) -&gt; Auto-expires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Access Reviews: </a:t>
            </a:r>
            <a:r>
              <a:rPr sz="1700">
                <a:solidFill>
                  <a:srgbClr val="000000"/>
                </a:solidFill>
                <a:latin typeface="Segoe UI"/>
              </a:rPr>
              <a:t>Periodic review of who has access to what. Self-review, manager review, or group owner review.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Entitlement Management: </a:t>
            </a:r>
            <a:r>
              <a:rPr sz="1700">
                <a:solidFill>
                  <a:srgbClr val="000000"/>
                </a:solidFill>
                <a:latin typeface="Segoe UI"/>
              </a:rPr>
              <a:t>Access packages bundle resources (groups, apps, SharePoint). Catalog + Policies + Requests.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Identity Governance: </a:t>
            </a:r>
            <a:r>
              <a:rPr sz="1700">
                <a:solidFill>
                  <a:srgbClr val="000000"/>
                </a:solidFill>
                <a:latin typeface="Segoe UI"/>
              </a:rPr>
              <a:t>Lifecycle workflows for joiner/mover/leaver. Automate onboarding and offboarding.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 Key: </a:t>
            </a:r>
            <a:r>
              <a:rPr sz="1700">
                <a:solidFill>
                  <a:srgbClr val="000000"/>
                </a:solidFill>
                <a:latin typeface="Segoe UI"/>
              </a:rPr>
              <a:t>PIM requires Entra ID P2 license. Access Reviews also require P2.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Management Group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Cloud Adoption Framework Landing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Root MG: </a:t>
            </a:r>
            <a:r>
              <a:rPr sz="1600">
                <a:solidFill>
                  <a:srgbClr val="000000"/>
                </a:solidFill>
                <a:latin typeface="Segoe UI"/>
              </a:rPr>
              <a:t>Tenant Root Group (auto-created, do NOT apply restrictive policies here)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Platform MG: </a:t>
            </a:r>
            <a:r>
              <a:rPr sz="1600">
                <a:solidFill>
                  <a:srgbClr val="000000"/>
                </a:solidFill>
                <a:latin typeface="Segoe UI"/>
              </a:rPr>
              <a:t>Shared services -- contains Identity, Management, and Connectivity subscriptions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  Identity MG: </a:t>
            </a:r>
            <a:r>
              <a:rPr sz="1600">
                <a:solidFill>
                  <a:srgbClr val="000000"/>
                </a:solidFill>
                <a:latin typeface="Segoe UI"/>
              </a:rPr>
              <a:t>Domain controllers, Entra Connect servers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  Management MG: </a:t>
            </a:r>
            <a:r>
              <a:rPr sz="1600">
                <a:solidFill>
                  <a:srgbClr val="000000"/>
                </a:solidFill>
                <a:latin typeface="Segoe UI"/>
              </a:rPr>
              <a:t>Log Analytics, Automation, Monitor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  Connectivity MG: </a:t>
            </a:r>
            <a:r>
              <a:rPr sz="1600">
                <a:solidFill>
                  <a:srgbClr val="000000"/>
                </a:solidFill>
                <a:latin typeface="Segoe UI"/>
              </a:rPr>
              <a:t>Hub VNet, VPN/ExpressRoute gateways, DNS, Firewall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Landing Zones MG: </a:t>
            </a:r>
            <a:r>
              <a:rPr sz="1600">
                <a:solidFill>
                  <a:srgbClr val="000000"/>
                </a:solidFill>
                <a:latin typeface="Segoe UI"/>
              </a:rPr>
              <a:t>Workload subscriptions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  Corp MG: </a:t>
            </a:r>
            <a:r>
              <a:rPr sz="1600">
                <a:solidFill>
                  <a:srgbClr val="000000"/>
                </a:solidFill>
                <a:latin typeface="Segoe UI"/>
              </a:rPr>
              <a:t>Internal apps connected to corporate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  Online MG: </a:t>
            </a:r>
            <a:r>
              <a:rPr sz="1600">
                <a:solidFill>
                  <a:srgbClr val="000000"/>
                </a:solidFill>
                <a:latin typeface="Segoe UI"/>
              </a:rPr>
              <a:t>Internet-facing apps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Sandbox MG: </a:t>
            </a:r>
            <a:r>
              <a:rPr sz="1600">
                <a:solidFill>
                  <a:srgbClr val="000000"/>
                </a:solidFill>
                <a:latin typeface="Segoe UI"/>
              </a:rPr>
              <a:t>Experimentation subscriptions (no connectivity to corp)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  Decommissioned MG: </a:t>
            </a:r>
            <a:r>
              <a:rPr sz="1600">
                <a:solidFill>
                  <a:srgbClr val="000000"/>
                </a:solidFill>
                <a:latin typeface="Segoe UI"/>
              </a:rPr>
              <a:t>Subscriptions being retired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Depth Limit: </a:t>
            </a:r>
            <a:r>
              <a:rPr sz="1600">
                <a:solidFill>
                  <a:srgbClr val="000000"/>
                </a:solidFill>
                <a:latin typeface="Segoe UI"/>
              </a:rPr>
              <a:t>6 levels deep (excluding Root and subscription level)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Policy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Blocks non-compliant resource creation/update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Enforce hard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Logs non-compliance, allows creation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Monitor before enforcing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Adds fields to resource during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Add tags, IP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DeployIfNotExists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Deploys related resource if missing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Auto-configure diagnostics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Modify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Changes properties on existing resources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Add/update tags,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AuditIfNotExists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Audits if related resource is missing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Check for diagnostics settings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Policy exists but not enforced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Testing, temporary disable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Initiative = Collection of policies assigned together. Use initiatives for compliance standards (e.g., CIS, NIST).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Governance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47548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Enforce naming conventions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Policy (Deny)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Regex patterns on resource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Control costs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Budgets + Cost Management + Policy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Alerts at thresholds, deny expensive SKUs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Regulatory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Policy Initiatives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Built-in: CIS, NIST, ISO, PCI DSS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Resource organization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Tags + Management Groups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 center, environment, owner tags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Prevent accidental deletion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Resource 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CanNotDelete or ReadOnly 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Standardize deployments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Blueprints / Template Specs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Versioned, governed ARM/Bicep templates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Track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Activity Log + Change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Who changed what and when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Monitor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Data Sources: </a:t>
            </a:r>
            <a:r>
              <a:rPr sz="1700">
                <a:solidFill>
                  <a:srgbClr val="000000"/>
                </a:solidFill>
                <a:latin typeface="Segoe UI"/>
              </a:rPr>
              <a:t>Applications (App Insights), OS (agents), Azure resources (diagnostics), Subscriptions (activity log), Tenant (Entra logs)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Collection: </a:t>
            </a:r>
            <a:r>
              <a:rPr sz="1700">
                <a:solidFill>
                  <a:srgbClr val="000000"/>
                </a:solidFill>
                <a:latin typeface="Segoe UI"/>
              </a:rPr>
              <a:t>Data Collection Rules (DCR) and Diagnostic Settings route data to destinations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Destinations: </a:t>
            </a:r>
            <a:r>
              <a:rPr sz="1700">
                <a:solidFill>
                  <a:srgbClr val="000000"/>
                </a:solidFill>
                <a:latin typeface="Segoe UI"/>
              </a:rPr>
              <a:t>Log Analytics workspace (KQL queries), Metrics (near real-time), Storage (archive), Event Hub (streaming)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Analysis: </a:t>
            </a:r>
            <a:r>
              <a:rPr sz="1700">
                <a:solidFill>
                  <a:srgbClr val="000000"/>
                </a:solidFill>
                <a:latin typeface="Segoe UI"/>
              </a:rPr>
              <a:t>KQL queries, Workbooks (visual dashboards), Alerts (action groups: email, SMS, webhook, Logic App, Function)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Monitor Agent (AMA): </a:t>
            </a:r>
            <a:r>
              <a:rPr sz="1700">
                <a:solidFill>
                  <a:srgbClr val="000000"/>
                </a:solidFill>
                <a:latin typeface="Segoe UI"/>
              </a:rPr>
              <a:t>Replaces legacy agents (MMA, Telegraf). Single agent for Windows and Linux. Uses DCRs.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Log Analytics Retention: </a:t>
            </a:r>
            <a:r>
              <a:rPr sz="1700">
                <a:solidFill>
                  <a:srgbClr val="000000"/>
                </a:solidFill>
                <a:latin typeface="Segoe UI"/>
              </a:rPr>
              <a:t>30 days free interactive, up to 730 days, archive up to 12 years.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Application Insights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APM: </a:t>
            </a:r>
            <a:r>
              <a:rPr sz="1700">
                <a:solidFill>
                  <a:srgbClr val="000000"/>
                </a:solidFill>
                <a:latin typeface="Segoe UI"/>
              </a:rPr>
              <a:t>Application Performance Management -- automatic instrumentation for .NET, Java, Node.js, Python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Distributed Tracing: </a:t>
            </a:r>
            <a:r>
              <a:rPr sz="1700">
                <a:solidFill>
                  <a:srgbClr val="000000"/>
                </a:solidFill>
                <a:latin typeface="Segoe UI"/>
              </a:rPr>
              <a:t>End-to-end transaction tracking across microservices. Correlates with Operation ID.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Live Metrics: </a:t>
            </a:r>
            <a:r>
              <a:rPr sz="1700">
                <a:solidFill>
                  <a:srgbClr val="000000"/>
                </a:solidFill>
                <a:latin typeface="Segoe UI"/>
              </a:rPr>
              <a:t>Real-time stream of requests, failures, dependencies. Zero-cost when viewing.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Availability Tests: </a:t>
            </a:r>
            <a:r>
              <a:rPr sz="1700">
                <a:solidFill>
                  <a:srgbClr val="000000"/>
                </a:solidFill>
                <a:latin typeface="Segoe UI"/>
              </a:rPr>
              <a:t>URL ping (global), Standard test (status + SSL + content), Custom TrackAvailability.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Smart Detection: </a:t>
            </a:r>
            <a:r>
              <a:rPr sz="1700">
                <a:solidFill>
                  <a:srgbClr val="000000"/>
                </a:solidFill>
                <a:latin typeface="Segoe UI"/>
              </a:rPr>
              <a:t>AI-driven anomaly detection for failures, performance degradation, memory leaks.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Application Map: </a:t>
            </a:r>
            <a:r>
              <a:rPr sz="1700">
                <a:solidFill>
                  <a:srgbClr val="000000"/>
                </a:solidFill>
                <a:latin typeface="Segoe UI"/>
              </a:rPr>
              <a:t>Visual topology of dependencies. Shows call rates, latency, failure rates between components.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Workspace-based: </a:t>
            </a:r>
            <a:r>
              <a:rPr sz="1700">
                <a:solidFill>
                  <a:srgbClr val="000000"/>
                </a:solidFill>
                <a:latin typeface="Segoe UI"/>
              </a:rPr>
              <a:t>Always use workspace-based App Insights (not classic). Required for cross-resource queries.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Microsoft 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Cloud-Native SIEM +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SIEM: </a:t>
            </a:r>
            <a:r>
              <a:rPr sz="1700">
                <a:solidFill>
                  <a:srgbClr val="000000"/>
                </a:solidFill>
                <a:latin typeface="Segoe UI"/>
              </a:rPr>
              <a:t>Security Information and Event Management -- collect, detect, investigate, respond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SOAR: </a:t>
            </a:r>
            <a:r>
              <a:rPr sz="1700">
                <a:solidFill>
                  <a:srgbClr val="000000"/>
                </a:solidFill>
                <a:latin typeface="Segoe UI"/>
              </a:rPr>
              <a:t>Security Orchestration, Automation and Response -- playbooks (Logic Apps) for automated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Data Connectors: </a:t>
            </a:r>
            <a:r>
              <a:rPr sz="1700">
                <a:solidFill>
                  <a:srgbClr val="000000"/>
                </a:solidFill>
                <a:latin typeface="Segoe UI"/>
              </a:rPr>
              <a:t>100+ built-in. Microsoft 365, Entra ID, Defender, AWS, GCP, firewalls, custom (CEF/Syslog)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Analytics Rules: </a:t>
            </a:r>
            <a:r>
              <a:rPr sz="1700">
                <a:solidFill>
                  <a:srgbClr val="000000"/>
                </a:solidFill>
                <a:latin typeface="Segoe UI"/>
              </a:rPr>
              <a:t>Scheduled (KQL), Microsoft Security (from Defender), Fusion (ML correlation), NRT (near real-time)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Workbooks: </a:t>
            </a:r>
            <a:r>
              <a:rPr sz="1700">
                <a:solidFill>
                  <a:srgbClr val="000000"/>
                </a:solidFill>
                <a:latin typeface="Segoe UI"/>
              </a:rPr>
              <a:t>Interactive dashboards for SOC analysts. Built-in templates for common scenarios.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When Sentinel vs Defender for Cloud: </a:t>
            </a:r>
            <a:r>
              <a:rPr sz="1700">
                <a:solidFill>
                  <a:srgbClr val="000000"/>
                </a:solidFill>
                <a:latin typeface="Segoe UI"/>
              </a:rPr>
              <a:t>Sentinel = full SIEM for SOC teams. Defender = CSPM + workload protection. Use both together.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Key Vault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Access Model: </a:t>
            </a:r>
            <a:r>
              <a:rPr sz="1600">
                <a:solidFill>
                  <a:srgbClr val="000000"/>
                </a:solidFill>
                <a:latin typeface="Segoe UI"/>
              </a:rPr>
              <a:t>RBAC (recommended) vs Vault Access Policies (legacy). RBAC integrates with Entra ID roles.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Soft Delete: </a:t>
            </a:r>
            <a:r>
              <a:rPr sz="1600">
                <a:solidFill>
                  <a:srgbClr val="000000"/>
                </a:solidFill>
                <a:latin typeface="Segoe UI"/>
              </a:rPr>
              <a:t>Enabled by default, 7-90 day retention. CANNOT be disabled on new vaults.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Purge Protection: </a:t>
            </a:r>
            <a:r>
              <a:rPr sz="1600">
                <a:solidFill>
                  <a:srgbClr val="000000"/>
                </a:solidFill>
                <a:latin typeface="Segoe UI"/>
              </a:rPr>
              <a:t>When enabled, soft-deleted items cannot be force-purged during retention period. Enable for production.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Managed Identity Access: </a:t>
            </a:r>
            <a:r>
              <a:rPr sz="1600">
                <a:solidFill>
                  <a:srgbClr val="000000"/>
                </a:solidFill>
                <a:latin typeface="Segoe UI"/>
              </a:rPr>
              <a:t>Grant Key Vault Secrets User role to managed identity. Zero secrets in code.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Secret Rotation: </a:t>
            </a:r>
            <a:r>
              <a:rPr sz="1600">
                <a:solidFill>
                  <a:srgbClr val="000000"/>
                </a:solidFill>
                <a:latin typeface="Segoe UI"/>
              </a:rPr>
              <a:t>Event Grid notifies when secret nears expiry -&gt; Function rotates -&gt; Stores new secret in Key Vault.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Key Types: </a:t>
            </a:r>
            <a:r>
              <a:rPr sz="1600">
                <a:solidFill>
                  <a:srgbClr val="000000"/>
                </a:solidFill>
                <a:latin typeface="Segoe UI"/>
              </a:rPr>
              <a:t>RSA &amp; EC keys, software or HSM-backed. Premium SKU for HSM. Managed HSM for FIPS 140-2 L3.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Network Security: </a:t>
            </a:r>
            <a:r>
              <a:rPr sz="1600">
                <a:solidFill>
                  <a:srgbClr val="000000"/>
                </a:solidFill>
                <a:latin typeface="Segoe UI"/>
              </a:rPr>
              <a:t>Private Endpoint for VNet access. Firewall rules for IP restrictions. Disable public access.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1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6" name="Lightning Bolt 5"/>
          <p:cNvSpPr/>
          <p:nvPr/>
        </p:nvSpPr>
        <p:spPr>
          <a:xfrm>
            <a:off x="731520" y="1371600"/>
            <a:ext cx="548640" cy="548640"/>
          </a:xfrm>
          <a:prstGeom prst="lightningBol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050"/>
                </a:solidFill>
                <a:latin typeface="Segoe UI"/>
              </a:defRPr>
            </a:pPr>
            <a:r>
              <a:t>Live Demo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Conditional Access Policy: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policy requiring MFA for Azure portal access from non-corporate locations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Azure Policy Assignment: </a:t>
            </a:r>
            <a:r>
              <a:rPr sz="1800">
                <a:solidFill>
                  <a:srgbClr val="000000"/>
                </a:solidFill>
                <a:latin typeface="Segoe UI"/>
              </a:rPr>
              <a:t>Assign 'Require tag on resource group' policy with Deny effect to a test subscription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Managed Identity + Key Vault: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VM with system-assigned identity, grant Key Vault access, retrieve secret from 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Log Analytics KQL: </a:t>
            </a:r>
            <a:r>
              <a:rPr sz="1800">
                <a:solidFill>
                  <a:srgbClr val="000000"/>
                </a:solidFill>
                <a:latin typeface="Segoe UI"/>
              </a:rPr>
              <a:t>Query sign-in logs to find failed authentications and risky sign-ins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1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EXAM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PHS is the DEFAULT hybrid identity recommendation. Choose PTA only if passwords must never leave on-prem.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Managed Identity eliminates secrets. If a question mentions connection strings or API keys, Managed Identity is likely the answer.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Policy &gt; Locks for enforcement. Locks prevent deletion; Policies prevent non-compliant creation.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PIM provides JIT access. If a question asks about 'least privilege for admins', PIM is the answer.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Sentinel = SIEM. If the question mentions 'correlate security events across sources', think Sentinel.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Log Analytics retention: </a:t>
            </a:r>
            <a:r>
              <a:rPr sz="1800">
                <a:solidFill>
                  <a:srgbClr val="002050"/>
                </a:solidFill>
                <a:latin typeface="Segoe UI"/>
              </a:rPr>
              <a:t>30 days free interactive. Archive tier for long-term at lower cost.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1 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1: Identity, Governance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Q1: Your company requires that IT admins only have elevated privileges when performing admin tasks, with approval from a security manager. What should you implement?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PIM (Privileged Identity Management) with eligible assignments and approval workflow. Admins request activation, security manager approves, access auto-expires.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Q2: A web application needs to read secrets from Key Vault without storing any credentials in code or configuration. The app runs on Azure App Service. What do you recommend?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Enable system-assigned managed identity on the App Service. Grant it the 'Key Vault Secrets User' RBAC role on the Key Vault. Use DefaultAzureCredential in code.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Q3: You need to enforce that all resources in a subscription must have a 'CostCenter' tag. Resources without the tag should be blocked from creation. What do you use?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Policy with the 'Require a tag on resources' built-in definition, set with Deny effect. Assign at subscription scope.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Data Storage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93192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002050"/>
                </a:solidFill>
                <a:latin typeface="Segoe UI Semibold"/>
              </a:defRPr>
            </a:pPr>
            <a:r>
              <a:t>20-25% of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2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storage solutions for relational data (SQL Database, SQL MI, SQL on VM)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for semi-structured and NoSQL data (Cosmos DB, Table Storage)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for unstructured data (Blob Storage, ADLS Gen2, Azure Files)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data integration and analytics architectures (ADF, Synapse, Event Hubs)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Storage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Structured / Relational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SQL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Cloud-native, auto-scaling, managed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Structured / High compat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SQL Managed Instance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Server compat, VNet native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Structured / Full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Server on Azure 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OS-level access, legacy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Semi-structured / Global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Cosmos DB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Multi-model, global dist, low latency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Semi-structured /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Table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Key-value, low cost, simple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Unstructured / Objects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Blob Storage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Images, documents, backups, media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Unstructured /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ADLS Gen2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Big data, hierarchical namespace, Spark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File shares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Files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SMB/NFS, lift-and-shift, AD DS 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High-perf file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NetApp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SAP, HPC, Oracle, low-latency NFS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Storage Redundancy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743200"/>
                <a:gridCol w="32004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Copies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Read Secondary?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Single datacenter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Dev/test, non-critical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 availability zones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Production, zone resilience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 regions (primary+secondary)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DR, cross-region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(failover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GZRS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 zones + secondary region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Mission-critical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(failover only)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RA-GRS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 regions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DR + read from secondary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(read-only)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RA-GZRS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 zones + secondary region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Maximum resilience + read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(read-only)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Blob Storage Tiers &amp;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332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18288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 Duration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Retrieval Cost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Storage Cost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Frequent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Infrequent (30+ days)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30 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Rarely (90+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Lower still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Archive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Offline (180+ days)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180 days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 (rehydrate)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2050"/>
                </a:solidFill>
                <a:latin typeface="Segoe UI"/>
              </a:defRPr>
            </a:pPr>
            <a:r>
              <a:t>Lifecycle Management: Automate tier transitions with rules.</a:t>
            </a:r>
            <a:br/>
            <a:r>
              <a:t>Example: Move to Cool after 30 days, Archive after 90, delete after 365.</a:t>
            </a:r>
            <a:br/>
            <a:r>
              <a:t>Rehydration: Archive requires rehydration (Standard: up to 15 hours, High priority: &lt;1 hour).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Files &amp; NetApp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Files: </a:t>
            </a:r>
            <a:r>
              <a:rPr sz="1700">
                <a:solidFill>
                  <a:srgbClr val="000000"/>
                </a:solidFill>
                <a:latin typeface="Segoe UI"/>
              </a:rPr>
              <a:t>Managed SMB (445) and NFS (2049) file shares in the cloud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Tiers: </a:t>
            </a:r>
            <a:r>
              <a:rPr sz="1700">
                <a:solidFill>
                  <a:srgbClr val="000000"/>
                </a:solidFill>
                <a:latin typeface="Segoe UI"/>
              </a:rPr>
              <a:t>Premium (SSD, low latency), Transaction Optimized (HDD), Hot, Cool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AD DS Integration: </a:t>
            </a:r>
            <a:r>
              <a:rPr sz="1700">
                <a:solidFill>
                  <a:srgbClr val="000000"/>
                </a:solidFill>
                <a:latin typeface="Segoe UI"/>
              </a:rPr>
              <a:t>Entra Domain Services or on-prem AD DS for identity-based access with NTFS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File Sync: </a:t>
            </a:r>
            <a:r>
              <a:rPr sz="1700">
                <a:solidFill>
                  <a:srgbClr val="000000"/>
                </a:solidFill>
                <a:latin typeface="Segoe UI"/>
              </a:rPr>
              <a:t>Sync on-prem file servers with Azure Files. Cloud tiering frees local disk space. Multi-site sync.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NetApp Files: </a:t>
            </a:r>
            <a:r>
              <a:rPr sz="1700">
                <a:solidFill>
                  <a:srgbClr val="000000"/>
                </a:solidFill>
                <a:latin typeface="Segoe UI"/>
              </a:rPr>
              <a:t>Enterprise NAS -- sub-millisecond latency, Oracle, SAP HANA, HPC workloads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NetApp tiers: </a:t>
            </a:r>
            <a:r>
              <a:rPr sz="1700">
                <a:solidFill>
                  <a:srgbClr val="000000"/>
                </a:solidFill>
                <a:latin typeface="Segoe UI"/>
              </a:rPr>
              <a:t>Standard, Premium, Ultra. Capacity pools with volume allocation.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 tip: </a:t>
            </a:r>
            <a:r>
              <a:rPr sz="1700">
                <a:solidFill>
                  <a:srgbClr val="000000"/>
                </a:solidFill>
                <a:latin typeface="Segoe UI"/>
              </a:rPr>
              <a:t>Azure Files for general file shares; NetApp Files for high-performance or SAP/Oracle.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Relational Database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SQL Database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SQL Managed Instance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SQL on VM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Fully managed PaaS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Fully managed PaaS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IaaS (you manage 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Compat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~95% (some gaps)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~99% (near full)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100% (full engine)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VNet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(PE/service endpoint)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(in VNet)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(in VNet)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Elastic Jobs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Cross-DB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Elastic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CLR / Linked Servers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New cloud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Migration / compat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Legacy / full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DTU or vCore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vCore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 + license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SQL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Elastic Pools: </a:t>
            </a:r>
            <a:r>
              <a:rPr sz="1700">
                <a:solidFill>
                  <a:srgbClr val="000000"/>
                </a:solidFill>
                <a:latin typeface="Segoe UI"/>
              </a:rPr>
              <a:t>Share resources across multiple databases. Ideal for multi-tenant SaaS with variable workloads.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Hyperscale: </a:t>
            </a:r>
            <a:r>
              <a:rPr sz="1700">
                <a:solidFill>
                  <a:srgbClr val="000000"/>
                </a:solidFill>
                <a:latin typeface="Segoe UI"/>
              </a:rPr>
              <a:t>Up to 100 TB, rapid scale-out reads (up to 4 read replicas), fast backups regardless of size.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Serverless: </a:t>
            </a:r>
            <a:r>
              <a:rPr sz="1700">
                <a:solidFill>
                  <a:srgbClr val="000000"/>
                </a:solidFill>
                <a:latin typeface="Segoe UI"/>
              </a:rPr>
              <a:t>Auto-pause after idle period, auto-scale compute. Pay only for compute used. Best for intermittent workloads.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DTU vs vCore: </a:t>
            </a:r>
            <a:r>
              <a:rPr sz="1700">
                <a:solidFill>
                  <a:srgbClr val="000000"/>
                </a:solidFill>
                <a:latin typeface="Segoe UI"/>
              </a:rPr>
              <a:t>DTU = bundled (CPU+IO+memory). vCore = choose independently. vCore recommended for new deployments.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Hybrid Benefit: </a:t>
            </a:r>
            <a:r>
              <a:rPr sz="1700">
                <a:solidFill>
                  <a:srgbClr val="000000"/>
                </a:solidFill>
                <a:latin typeface="Segoe UI"/>
              </a:rPr>
              <a:t>Use existing SQL Server licenses for ~55% savings. Apply at server or pool level.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Ledger tables: </a:t>
            </a:r>
            <a:r>
              <a:rPr sz="1700">
                <a:solidFill>
                  <a:srgbClr val="000000"/>
                </a:solidFill>
                <a:latin typeface="Segoe UI"/>
              </a:rPr>
              <a:t>Tamper-evident tables with blockchain-like verification. Regulatory and audit scenarios.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Cosmos DB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Global Distribution &amp; Multi-Model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APIs: </a:t>
            </a:r>
            <a:r>
              <a:rPr sz="1700">
                <a:solidFill>
                  <a:srgbClr val="000000"/>
                </a:solidFill>
                <a:latin typeface="Segoe UI"/>
              </a:rPr>
              <a:t>NoSQL (native, recommended), MongoDB, Cassandra, Gremlin (graph), Table, PostgreSQL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Global Distribution: </a:t>
            </a:r>
            <a:r>
              <a:rPr sz="1700">
                <a:solidFill>
                  <a:srgbClr val="000000"/>
                </a:solidFill>
                <a:latin typeface="Segoe UI"/>
              </a:rPr>
              <a:t>Multi-region writes for active-active. Single-region writes + multi-region reads for active-passive.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Partition Key Rules: </a:t>
            </a:r>
            <a:r>
              <a:rPr sz="1700">
                <a:solidFill>
                  <a:srgbClr val="000000"/>
                </a:solidFill>
                <a:latin typeface="Segoe UI"/>
              </a:rPr>
              <a:t>(1) High cardinality -- many distinct values. (2) Even distribution -- no hot partitions. (3) Included in queries -- avoid cross-partition queries.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RU/s: </a:t>
            </a:r>
            <a:r>
              <a:rPr sz="1700">
                <a:solidFill>
                  <a:srgbClr val="000000"/>
                </a:solidFill>
                <a:latin typeface="Segoe UI"/>
              </a:rPr>
              <a:t>Request Units per second. Provisioned (predictable) or Autoscale (variable, min 10% of max). Serverless for dev/test.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Item Size: </a:t>
            </a:r>
            <a:r>
              <a:rPr sz="1700">
                <a:solidFill>
                  <a:srgbClr val="000000"/>
                </a:solidFill>
                <a:latin typeface="Segoe UI"/>
              </a:rPr>
              <a:t>Max 2 MB per item. Design for smaller documents with proper denormalization.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Change Feed: </a:t>
            </a:r>
            <a:r>
              <a:rPr sz="1700">
                <a:solidFill>
                  <a:srgbClr val="000000"/>
                </a:solidFill>
                <a:latin typeface="Segoe UI"/>
              </a:rPr>
              <a:t>Stream of changes for event-driven patterns. Trigger Functions, update caches, sync data.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Cosmos DB Consistency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371600"/>
                <a:gridCol w="13716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Guarantee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Linearizable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Financial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Bounded Staleness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Reads lag by k versions or t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Leaderboards, counters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Session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Read-your-own-writes in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Most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Consistent Prefix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Reads never see out-of-order writes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Social updates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ordering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Counters, likes, non-critical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Exam Default: Session consistency is the default and suits most applications.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Data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Medallion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Bronze Layer (Raw): </a:t>
            </a:r>
            <a:r>
              <a:rPr sz="1700">
                <a:solidFill>
                  <a:srgbClr val="000000"/>
                </a:solidFill>
                <a:latin typeface="Segoe UI"/>
              </a:rPr>
              <a:t>Ingest raw data as-is. ADLS Gen2 with hierarchical namespace. Parquet or Delta format.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Silver Layer (Cleansed): </a:t>
            </a:r>
            <a:r>
              <a:rPr sz="1700">
                <a:solidFill>
                  <a:srgbClr val="000000"/>
                </a:solidFill>
                <a:latin typeface="Segoe UI"/>
              </a:rPr>
              <a:t>Validated, deduplicated, conformed. Schema enforcement. Business logic applied.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Gold Layer (Curated): </a:t>
            </a:r>
            <a:r>
              <a:rPr sz="1700">
                <a:solidFill>
                  <a:srgbClr val="000000"/>
                </a:solidFill>
                <a:latin typeface="Segoe UI"/>
              </a:rPr>
              <a:t>Aggregated, business-ready. Star schema for BI. Served via Synapse SQL pools or Power BI.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ADLS Gen2: </a:t>
            </a:r>
            <a:r>
              <a:rPr sz="1700">
                <a:solidFill>
                  <a:srgbClr val="000000"/>
                </a:solidFill>
                <a:latin typeface="Segoe UI"/>
              </a:rPr>
              <a:t>Storage foundation. Hierarchical namespace + Blob APIs. ACLs for fine-grained access.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Synapse Analytics: </a:t>
            </a:r>
            <a:r>
              <a:rPr sz="1700">
                <a:solidFill>
                  <a:srgbClr val="000000"/>
                </a:solidFill>
                <a:latin typeface="Segoe UI"/>
              </a:rPr>
              <a:t>Unified analytics -- serverless SQL, dedicated SQL pools, Spark, Pipelines, Data Explorer.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Microsoft Fabric: </a:t>
            </a:r>
            <a:r>
              <a:rPr sz="1700">
                <a:solidFill>
                  <a:srgbClr val="000000"/>
                </a:solidFill>
                <a:latin typeface="Segoe UI"/>
              </a:rPr>
              <a:t>Next-gen unified analytics platform. Integrates Power BI, Data Factory, Synapse, Real-Time Analytics.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Data Factory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ETL / ELT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Batch data movement, 90+ connectors, mapping data 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Synapse Pipelines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Same ADF engine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 integration within Synapse workspace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 Hubs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Streaming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Millions of events/sec, Kafka compatible, capture to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Stream Analytics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Real-time 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SQL-like queries on streams, windowing functions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Databricks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Spark-based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ML, data engineering, collaborative notebooks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Logic Apps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Integration workflows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B2B, SaaS connectors, low-code orchestration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Data Protection &amp;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At Rest: </a:t>
            </a:r>
            <a:r>
              <a:rPr sz="1700">
                <a:solidFill>
                  <a:srgbClr val="000000"/>
                </a:solidFill>
                <a:latin typeface="Segoe UI"/>
              </a:rPr>
              <a:t>Storage Service Encryption (SSE) for blobs/files. TDE for SQL databases. Always on by default.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In Transit: </a:t>
            </a:r>
            <a:r>
              <a:rPr sz="1700">
                <a:solidFill>
                  <a:srgbClr val="000000"/>
                </a:solidFill>
                <a:latin typeface="Segoe UI"/>
              </a:rPr>
              <a:t>TLS 1.2+ enforced. Minimum TLS version configurable on storage accounts.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In Use: </a:t>
            </a:r>
            <a:r>
              <a:rPr sz="1700">
                <a:solidFill>
                  <a:srgbClr val="000000"/>
                </a:solidFill>
                <a:latin typeface="Segoe UI"/>
              </a:rPr>
              <a:t>Always Encrypted for SQL (client-side encryption). Confidential computing for VMs.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Key Management: </a:t>
            </a:r>
            <a:r>
              <a:rPr sz="1700">
                <a:solidFill>
                  <a:srgbClr val="000000"/>
                </a:solidFill>
                <a:latin typeface="Segoe UI"/>
              </a:rPr>
              <a:t>Microsoft-managed keys (MMK, default) or Customer-managed keys (CMK, Key Vault).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CMK Benefits: </a:t>
            </a:r>
            <a:r>
              <a:rPr sz="1700">
                <a:solidFill>
                  <a:srgbClr val="000000"/>
                </a:solidFill>
                <a:latin typeface="Segoe UI"/>
              </a:rPr>
              <a:t>You control rotation, you can revoke access. Required by some compliance standards.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Double Encryption: </a:t>
            </a:r>
            <a:r>
              <a:rPr sz="1700">
                <a:solidFill>
                  <a:srgbClr val="000000"/>
                </a:solidFill>
                <a:latin typeface="Segoe UI"/>
              </a:rPr>
              <a:t>Infrastructure encryption adds second layer. Enable at storage account creation.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Private Endpoints for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Zero Trust Networking for Data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Architecture: </a:t>
            </a:r>
            <a:r>
              <a:rPr sz="1700">
                <a:solidFill>
                  <a:srgbClr val="000000"/>
                </a:solidFill>
                <a:latin typeface="Segoe UI"/>
              </a:rPr>
              <a:t>VNet -&gt; Private Endpoint (NIC with private IP) -&gt; Private DNS Zone -&gt; Data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DNS Resolution: </a:t>
            </a:r>
            <a:r>
              <a:rPr sz="1700">
                <a:solidFill>
                  <a:srgbClr val="000000"/>
                </a:solidFill>
                <a:latin typeface="Segoe UI"/>
              </a:rPr>
              <a:t>privatelink.blob.core.windows.net resolves to PE private IP, not public 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Disable Public Access: </a:t>
            </a:r>
            <a:r>
              <a:rPr sz="1700">
                <a:solidFill>
                  <a:srgbClr val="000000"/>
                </a:solidFill>
                <a:latin typeface="Segoe UI"/>
              </a:rPr>
              <a:t>After PE is configured, disable public network access on the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On-prem Access: </a:t>
            </a:r>
            <a:r>
              <a:rPr sz="1700">
                <a:solidFill>
                  <a:srgbClr val="000000"/>
                </a:solidFill>
                <a:latin typeface="Segoe UI"/>
              </a:rPr>
              <a:t>Conditional DNS forwarder forwards privatelink.* queries to Azure DNS (168.63.129.16)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Supported Services: </a:t>
            </a:r>
            <a:r>
              <a:rPr sz="1700">
                <a:solidFill>
                  <a:srgbClr val="000000"/>
                </a:solidFill>
                <a:latin typeface="Segoe UI"/>
              </a:rPr>
              <a:t>Storage, SQL, Cosmos DB, Key Vault, App Config, Event Hubs, Service Bus, and 60+ more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Cost: </a:t>
            </a:r>
            <a:r>
              <a:rPr sz="1700">
                <a:solidFill>
                  <a:srgbClr val="000000"/>
                </a:solidFill>
                <a:latin typeface="Segoe UI"/>
              </a:rPr>
              <a:t>~$7.30/month per PE + data processing charges. Small cost for significant security improvement.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Data Residency &amp; Microsoft Purview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Sovereign Regions: </a:t>
            </a:r>
            <a:r>
              <a:rPr sz="1700">
                <a:solidFill>
                  <a:srgbClr val="000000"/>
                </a:solidFill>
                <a:latin typeface="Segoe UI"/>
              </a:rPr>
              <a:t>Azure Government (US), Azure China (21Vianet). Data stays within sovereign boundary.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Data Residency: </a:t>
            </a:r>
            <a:r>
              <a:rPr sz="1700">
                <a:solidFill>
                  <a:srgbClr val="000000"/>
                </a:solidFill>
                <a:latin typeface="Segoe UI"/>
              </a:rPr>
              <a:t>Choose regions that meet regulatory requirements (GDPR, LGPD, etc.). Paired regions for DR.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Microsoft Purview: </a:t>
            </a:r>
            <a:r>
              <a:rPr sz="1700">
                <a:solidFill>
                  <a:srgbClr val="000000"/>
                </a:solidFill>
                <a:latin typeface="Segoe UI"/>
              </a:rPr>
              <a:t>Unified data governance -- data catalog, lineage tracking, classifications, access policies.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Data Catalog: </a:t>
            </a:r>
            <a:r>
              <a:rPr sz="1700">
                <a:solidFill>
                  <a:srgbClr val="000000"/>
                </a:solidFill>
                <a:latin typeface="Segoe UI"/>
              </a:rPr>
              <a:t>Scan and classify data across Azure, on-prem, and multi-cloud. Automatic sensitivity labels.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Data Lineage: </a:t>
            </a:r>
            <a:r>
              <a:rPr sz="1700">
                <a:solidFill>
                  <a:srgbClr val="000000"/>
                </a:solidFill>
                <a:latin typeface="Segoe UI"/>
              </a:rPr>
              <a:t>Visual tracking of data flow from source to consumption. Supports ADF, Synapse, Power BI.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 Context: </a:t>
            </a:r>
            <a:r>
              <a:rPr sz="1700">
                <a:solidFill>
                  <a:srgbClr val="000000"/>
                </a:solidFill>
                <a:latin typeface="Segoe UI"/>
              </a:rPr>
              <a:t>Know when Purview is the answer -- 'discover, classify, govern data estate' keywords.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2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6" name="Lightning Bolt 5"/>
          <p:cNvSpPr/>
          <p:nvPr/>
        </p:nvSpPr>
        <p:spPr>
          <a:xfrm>
            <a:off x="731520" y="1371600"/>
            <a:ext cx="548640" cy="548640"/>
          </a:xfrm>
          <a:prstGeom prst="lightningBol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050"/>
                </a:solidFill>
                <a:latin typeface="Segoe UI"/>
              </a:defRPr>
            </a:pPr>
            <a:r>
              <a:t>Live Demo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Storage Lifecycle: </a:t>
            </a:r>
            <a:r>
              <a:rPr sz="1800">
                <a:solidFill>
                  <a:srgbClr val="000000"/>
                </a:solidFill>
                <a:latin typeface="Segoe UI"/>
              </a:rPr>
              <a:t>Configure blob lifecycle management to transition from Hot to Cool to Archive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Cosmos DB Configuration: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Cosmos DB account with NoSQL API, select partition key, set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Private Endpoint for SQL: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PE for Azure SQL Database with private DNS zone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Data Factory Pipeline: </a:t>
            </a:r>
            <a:r>
              <a:rPr sz="1800">
                <a:solidFill>
                  <a:srgbClr val="000000"/>
                </a:solidFill>
                <a:latin typeface="Segoe UI"/>
              </a:rPr>
              <a:t>Build a simple copy pipeline from Blob Storage to SQL Database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2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EXAM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ZRS for zone resilience in production. LRS only for dev/test or non-critical data.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SQL Managed Instance is the migration sweet spot -- near 100% SQL Server compatibility with full PaaS management.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Session consistency is the Cosmos DB default. Strong only when absolutely required (higher latency, lower throughput).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Private Endpoints = Zero Trust for data. If the question mentions 'secure access' to a data service, think PE.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Archive tier = offline. You CANNOT read archived blobs without rehydrating first. Plan for up to 15 hours.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Partition key rules: </a:t>
            </a:r>
            <a:r>
              <a:rPr sz="1800">
                <a:solidFill>
                  <a:srgbClr val="002050"/>
                </a:solidFill>
                <a:latin typeface="Segoe UI"/>
              </a:rPr>
              <a:t>High cardinality, even distribution, included in WHERE clause of queries.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2 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2: Data Storage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Q1: A global e-commerce app needs sub-10ms read latency worldwide. Data is semi-structured product catalog. Users mostly read their own recent changes. Which database and consistency?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Cosmos DB with NoSQL API, multi-region reads, Session consistency (default). Partition key = productCategory or productId depending on query patterns.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Q2: You are migrating a SQL Server 2019 database that uses SQL Agent jobs, cross-database queries, and CLR assemblies. The team wants full PaaS management. What do you recommend?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SQL Managed Instance. It supports SQL Agent, cross-DB queries, and CLR -- features not available in SQL Database. Fully managed PaaS.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Q3: A healthcare company must store patient images for 7 years at minimum cost, with rare access. Images must never leave the US East region. What storage design?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Blob Storage in US East, LRS or ZRS. Lifecycle policy: move to Archive tier after 30 days. RA-GRS NOT needed (single region requirement). Use immutability policies for retention.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Business Continuity</a:t>
            </a:r>
            <a:br/>
            <a:r>
              <a:t>&amp; High Availability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93192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002050"/>
                </a:solidFill>
                <a:latin typeface="Segoe UI Semibold"/>
              </a:defRPr>
            </a:pPr>
            <a:r>
              <a:t>15-20% of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3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for high availability using availability zones, sets, and load balancing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backup and recovery solutions with Azure Backup and site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disaster recovery strategies for multi-region architectures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Calculate composite SLAs and map RTO/RPO to Azure services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RTO vs RPO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RPO (Recovery Point Objective): </a:t>
            </a:r>
            <a:r>
              <a:rPr sz="1700">
                <a:solidFill>
                  <a:srgbClr val="000000"/>
                </a:solidFill>
                <a:latin typeface="Segoe UI"/>
              </a:rPr>
              <a:t>Maximum acceptable DATA LOSS measured in time. How much data can you afford to lose?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RTO (Recovery Time Objective): </a:t>
            </a:r>
            <a:r>
              <a:rPr sz="1700">
                <a:solidFill>
                  <a:srgbClr val="000000"/>
                </a:solidFill>
                <a:latin typeface="Segoe UI"/>
              </a:rPr>
              <a:t>Maximum acceptable DOWNTIME measured in time. How quickly must you recover?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Example: </a:t>
            </a:r>
            <a:r>
              <a:rPr sz="1700">
                <a:solidFill>
                  <a:srgbClr val="000000"/>
                </a:solidFill>
                <a:latin typeface="Segoe UI"/>
              </a:rPr>
              <a:t>RPO = 1 hour means you can lose up to 1 hour of data. RTO = 4 hours means you must recover within 4 hours.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Cost Relationship: </a:t>
            </a:r>
            <a:r>
              <a:rPr sz="1700">
                <a:solidFill>
                  <a:srgbClr val="000000"/>
                </a:solidFill>
                <a:latin typeface="Segoe UI"/>
              </a:rPr>
              <a:t>Lower RPO/RTO = higher cost. Near-zero RPO requires synchronous replication. Near-zero RTO requires hot standby.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Business drives the numbers: </a:t>
            </a:r>
            <a:r>
              <a:rPr sz="1700">
                <a:solidFill>
                  <a:srgbClr val="000000"/>
                </a:solidFill>
                <a:latin typeface="Segoe UI"/>
              </a:rPr>
              <a:t>Finance and stakeholders define acceptable RPO/RTO, architects design to meet them.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 Pattern: </a:t>
            </a:r>
            <a:r>
              <a:rPr sz="1700">
                <a:solidFill>
                  <a:srgbClr val="000000"/>
                </a:solidFill>
                <a:latin typeface="Segoe UI"/>
              </a:rPr>
              <a:t>Scenario gives RPO/RTO requirements -&gt; you select the appropriate Azure service/configuration.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RTO / RPO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RPO Requirement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RTO Requirement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RPO = 0 (zero loss)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Sync replication / 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RTO &lt; 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Auto-failover (SQL FG, Cosmos)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RPO &lt; 15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Continuous replication / ASR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RTO &lt; 1 hour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Hot standby / ASR failover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RPO &lt; 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Frequent backups / log shipping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RTO &lt; 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Warm standby /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RPO &lt; 24 hours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Daily backups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RTO &lt; 24 hours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Cold / backup restore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RPO =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Weekly backups / geo-restore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RTO =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Rebuild from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Availability Zones vs Availability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Availability Zones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Availability Sets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Protection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Datacenter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Rack/hardware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 physically separate datacenters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Up to 3 fault + 20 update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Network Latency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&lt; 2 ms between zones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N/A (same datacenter)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Cross-zone data transfer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extra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VMs in Zone 1, 2, 3 + zone LB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VMs in FD 0, 1, 2 behind LB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DEFAULT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Legacy or regions without 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SLA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Single VM SLAs: </a:t>
            </a:r>
            <a:r>
              <a:rPr sz="1700">
                <a:solidFill>
                  <a:srgbClr val="000000"/>
                </a:solidFill>
                <a:latin typeface="Segoe UI"/>
              </a:rPr>
              <a:t>Premium SSD = 99.9%, Availability Set = 99.95%, Availability Zones = 99.99%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Composite SLA (serial): </a:t>
            </a:r>
            <a:r>
              <a:rPr sz="1700">
                <a:solidFill>
                  <a:srgbClr val="000000"/>
                </a:solidFill>
                <a:latin typeface="Segoe UI"/>
              </a:rPr>
              <a:t>Multiply individual SLAs. Web (99.95%) x DB (99.99%) = 99.94%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Composite SLA (parallel/redundant): </a:t>
            </a:r>
            <a:r>
              <a:rPr sz="1700">
                <a:solidFill>
                  <a:srgbClr val="000000"/>
                </a:solidFill>
                <a:latin typeface="Segoe UI"/>
              </a:rPr>
              <a:t>1 - (1-SLA_A) x (1-SLA_B). Two 99.9% instances = 99.9999%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Example: </a:t>
            </a:r>
            <a:r>
              <a:rPr sz="1700">
                <a:solidFill>
                  <a:srgbClr val="000000"/>
                </a:solidFill>
                <a:latin typeface="Segoe UI"/>
              </a:rPr>
              <a:t>Web tier (2 VMs in zones, 99.99%) x App tier (99.95%) x SQL (99.99%) = 99.93%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Impact: </a:t>
            </a:r>
            <a:r>
              <a:rPr sz="1700">
                <a:solidFill>
                  <a:srgbClr val="000000"/>
                </a:solidFill>
                <a:latin typeface="Segoe UI"/>
              </a:rPr>
              <a:t>99.9% = ~8.76 hrs/year downtime. 99.99% = ~52 min/year. 99.95% = ~4.38 hrs/year.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Strategy: </a:t>
            </a:r>
            <a:r>
              <a:rPr sz="1700">
                <a:solidFill>
                  <a:srgbClr val="000000"/>
                </a:solidFill>
                <a:latin typeface="Segoe UI"/>
              </a:rPr>
              <a:t>Add redundancy to the WEAKEST component. That is where you get the most SLA improvement.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Backup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Recovery Services Vault: </a:t>
            </a:r>
            <a:r>
              <a:rPr sz="1600">
                <a:solidFill>
                  <a:srgbClr val="000000"/>
                </a:solidFill>
                <a:latin typeface="Segoe UI"/>
              </a:rPr>
              <a:t>Central management for backup and ASR. Supports VMs, SQL, Files, SAP, on-prem.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Backup Vault: </a:t>
            </a:r>
            <a:r>
              <a:rPr sz="1600">
                <a:solidFill>
                  <a:srgbClr val="000000"/>
                </a:solidFill>
                <a:latin typeface="Segoe UI"/>
              </a:rPr>
              <a:t>Newer vault type for Azure Disks, Blobs, PostgreSQL, AKS. Simpler management.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Agents: </a:t>
            </a:r>
            <a:r>
              <a:rPr sz="1600">
                <a:solidFill>
                  <a:srgbClr val="000000"/>
                </a:solidFill>
                <a:latin typeface="Segoe UI"/>
              </a:rPr>
              <a:t>VM Extension (Azure VMs), MARS (files/folders to cloud), MABS/DPM (on-prem workloads).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Policies: </a:t>
            </a:r>
            <a:r>
              <a:rPr sz="1600">
                <a:solidFill>
                  <a:srgbClr val="000000"/>
                </a:solidFill>
                <a:latin typeface="Segoe UI"/>
              </a:rPr>
              <a:t>Daily/weekly/monthly/yearly retention. Customize per workload. Instant restore from snapshots.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Storage Redundancy: </a:t>
            </a:r>
            <a:r>
              <a:rPr sz="1600">
                <a:solidFill>
                  <a:srgbClr val="000000"/>
                </a:solidFill>
                <a:latin typeface="Segoe UI"/>
              </a:rPr>
              <a:t>LRS (default), ZRS (zone protection), GRS (cross-region). Choose at vault creation.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Soft Delete: </a:t>
            </a:r>
            <a:r>
              <a:rPr sz="1600">
                <a:solidFill>
                  <a:srgbClr val="000000"/>
                </a:solidFill>
                <a:latin typeface="Segoe UI"/>
              </a:rPr>
              <a:t>14 additional days to recover deleted backup data. Enhanced soft delete for ransomware protection.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Cross-Region Restore: </a:t>
            </a:r>
            <a:r>
              <a:rPr sz="1600">
                <a:solidFill>
                  <a:srgbClr val="000000"/>
                </a:solidFill>
                <a:latin typeface="Segoe UI"/>
              </a:rPr>
              <a:t>Enable on GRS vaults to restore in paired region even when primary is healthy.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Site Recovery (ASR)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Azure-to-Azure: </a:t>
            </a:r>
            <a:r>
              <a:rPr sz="1700">
                <a:solidFill>
                  <a:srgbClr val="000000"/>
                </a:solidFill>
                <a:latin typeface="Segoe UI"/>
              </a:rPr>
              <a:t>Replicate VMs between Azure regions. RPO ~30 seconds for VMs.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On-prem-to-Azure: </a:t>
            </a:r>
            <a:r>
              <a:rPr sz="1700">
                <a:solidFill>
                  <a:srgbClr val="000000"/>
                </a:solidFill>
                <a:latin typeface="Segoe UI"/>
              </a:rPr>
              <a:t>VMware VMs, Hyper-V VMs, physical servers. Process Server handles replication.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Test Failover: </a:t>
            </a:r>
            <a:r>
              <a:rPr sz="1700">
                <a:solidFill>
                  <a:srgbClr val="000000"/>
                </a:solidFill>
                <a:latin typeface="Segoe UI"/>
              </a:rPr>
              <a:t>Failover to isolated VNet. NO impact to production. Validate DR plan safely.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Planned Failover: </a:t>
            </a:r>
            <a:r>
              <a:rPr sz="1700">
                <a:solidFill>
                  <a:srgbClr val="000000"/>
                </a:solidFill>
                <a:latin typeface="Segoe UI"/>
              </a:rPr>
              <a:t>Zero data loss. Shut down source, replicate final changes, bring up target.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Unplanned Failover: </a:t>
            </a:r>
            <a:r>
              <a:rPr sz="1700">
                <a:solidFill>
                  <a:srgbClr val="000000"/>
                </a:solidFill>
                <a:latin typeface="Segoe UI"/>
              </a:rPr>
              <a:t>Source is down. Use latest recovery point. Some data loss possible (within RPO).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Recovery Plans: </a:t>
            </a:r>
            <a:r>
              <a:rPr sz="1700">
                <a:solidFill>
                  <a:srgbClr val="000000"/>
                </a:solidFill>
                <a:latin typeface="Segoe UI"/>
              </a:rPr>
              <a:t>Group VMs, define startup order, add scripts/manual actions. Automate entire DR sequence.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Key Distinction: </a:t>
            </a:r>
            <a:r>
              <a:rPr sz="1700">
                <a:solidFill>
                  <a:srgbClr val="000000"/>
                </a:solidFill>
                <a:latin typeface="Segoe UI"/>
              </a:rPr>
              <a:t>ASR = DR (disaster recovery), NOT backup. Use Azure Backup for backup.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SQL BCDR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32004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RPO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 Failover?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 Redundant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Same region, 3 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HA within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 Geo-Replication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~5 seconds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Up to 4 secondaries, any region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Read scale, custom DR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Auto-Failover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~5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 secondary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Automatic (DNS)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Production 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Geo-Restore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~1 hour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Paired region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Manual (restore)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Budget DR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PITR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 min (up to 35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Same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Manual (restore)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Accidental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Multi-Region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  <a:gridCol w="1371600"/>
                <a:gridCol w="13716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RTO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RPO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Active-Active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Global apps, zero downtime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Active-Passive (Hot)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Near-zero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Critical apps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Active-Passive (Warm)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Minutes-hours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Important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Active-Passive (Cold)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Non-critical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Traffic Routing: Azure Front Door (global HTTP) or Traffic Manager (DNS-based) for multi-region failover.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HA Decision Matrix by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188720"/>
                <a:gridCol w="47548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 Mechanism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Configuration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Availability Zones + Load Balancer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Zone-redundant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SQL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Auto-Failover Groups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Automatic DNS failover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Cosmos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Multi-region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5-nines with multi-write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Zone-redundant plan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Premium v3 + zone enabled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Zone-spanning node pools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 zones, system + user pools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ZRS / GZRS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 or geo-zone redundant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Zone-redundant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Premium plan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DR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Test Failover (ASR): </a:t>
            </a:r>
            <a:r>
              <a:rPr sz="1700">
                <a:solidFill>
                  <a:srgbClr val="000000"/>
                </a:solidFill>
                <a:latin typeface="Segoe UI"/>
              </a:rPr>
              <a:t>Failover VMs to isolated VNet. No impact to production. Validate apps 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Test Failover (SQL): </a:t>
            </a:r>
            <a:r>
              <a:rPr sz="1700">
                <a:solidFill>
                  <a:srgbClr val="000000"/>
                </a:solidFill>
                <a:latin typeface="Segoe UI"/>
              </a:rPr>
              <a:t>Failover groups support test failover with alternate DNS suffix.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Recovery Plans: </a:t>
            </a:r>
            <a:r>
              <a:rPr sz="1700">
                <a:solidFill>
                  <a:srgbClr val="000000"/>
                </a:solidFill>
                <a:latin typeface="Segoe UI"/>
              </a:rPr>
              <a:t>Define multi-VM failover with sequencing. Add pre/post scripts for configuration.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Documented Runbooks: </a:t>
            </a:r>
            <a:r>
              <a:rPr sz="1700">
                <a:solidFill>
                  <a:srgbClr val="000000"/>
                </a:solidFill>
                <a:latin typeface="Segoe UI"/>
              </a:rPr>
              <a:t>Step-by-step DR procedures. Who does what, in what order, with what approvals.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Regular DR Drills: </a:t>
            </a:r>
            <a:r>
              <a:rPr sz="1700">
                <a:solidFill>
                  <a:srgbClr val="000000"/>
                </a:solidFill>
                <a:latin typeface="Segoe UI"/>
              </a:rPr>
              <a:t>Quarterly or semi-annual. Test RTO/RPO claims. Document lessons learned.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Chaos Engineering: </a:t>
            </a:r>
            <a:r>
              <a:rPr sz="1700">
                <a:solidFill>
                  <a:srgbClr val="000000"/>
                </a:solidFill>
                <a:latin typeface="Segoe UI"/>
              </a:rPr>
              <a:t>Azure Chaos Studio for fault injection. Test resilience under controlled failure.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3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6" name="Lightning Bolt 5"/>
          <p:cNvSpPr/>
          <p:nvPr/>
        </p:nvSpPr>
        <p:spPr>
          <a:xfrm>
            <a:off x="731520" y="1371600"/>
            <a:ext cx="548640" cy="548640"/>
          </a:xfrm>
          <a:prstGeom prst="lightningBol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050"/>
                </a:solidFill>
                <a:latin typeface="Segoe UI"/>
              </a:defRPr>
            </a:pPr>
            <a:r>
              <a:t>Live Demo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Azure Backup Policy: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Recovery Services Vault with daily backup policy for Azure VMs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ASR Replication: </a:t>
            </a:r>
            <a:r>
              <a:rPr sz="1800">
                <a:solidFill>
                  <a:srgbClr val="000000"/>
                </a:solidFill>
                <a:latin typeface="Segoe UI"/>
              </a:rPr>
              <a:t>Enable Azure-to-Azure replication for a VM, view replication health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SQL Failover Group: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an auto-failover group between two Azure SQL servers in different regions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Zone Deployment: </a:t>
            </a:r>
            <a:r>
              <a:rPr sz="1800">
                <a:solidFill>
                  <a:srgbClr val="000000"/>
                </a:solidFill>
                <a:latin typeface="Segoe UI"/>
              </a:rPr>
              <a:t>Deploy a VM to a specific availability zone and verify zone placement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3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EXAM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Auto-failover groups &gt; active geo-replication for SQL DR. Groups provide automatic DNS failover.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ASR is for DR, NOT backup. If the question asks about 'recovering deleted files', use Azure Backup.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Availability Zones = 99.99% SLA. This is the default HA recommendation for production workloads.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Front Door for global HTTP HA. Traffic Manager for DNS-based global routing (non-HTTP or simple).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Test failover = no production impact. Always recommend test failover for DR validation.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Composite SLA math: </a:t>
            </a:r>
            <a:r>
              <a:rPr sz="1800">
                <a:solidFill>
                  <a:srgbClr val="002050"/>
                </a:solidFill>
                <a:latin typeface="Segoe UI"/>
              </a:rPr>
              <a:t>Multiply serial components, use parallel formula for redundant components.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3 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3: Business Continuity &amp; 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Q1: Your SQL database must survive a complete Azure region outage with automatic failover and near-zero RPO. Users connect via a single DNS name. What do you implement?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Auto-failover group across two regions. Provides automatic DNS failover (~5 second RPO), single read-write endpoint, and optional read-only endpoint.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Q2: A web application runs on 3 VMs behind a load balancer. The SLA for each VM is 99.9%. The LB SLA is 99.99%. What is the composite SLA for the web tier?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Parallel VMs: 1 - (1-0.999)^3 = 99.9999%. Serial with LB: 99.9999% x 99.99% = 99.9899%. The LB becomes the limiting factor.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Q3: Your company needs to protect Azure VMs with RPO &lt; 30 minutes and RTO &lt; 1 hour for DR to a secondary region. Which service?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Site Recovery (ASR). Provides ~30 second RPO for Azure VMs with continuous replication, and minutes RTO with automated failover via recovery plans.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Compute &amp; Application</a:t>
            </a:r>
            <a:br/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93192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002050"/>
                </a:solidFill>
                <a:latin typeface="Segoe UI Semibold"/>
              </a:defRPr>
            </a:pPr>
            <a:r>
              <a:t>~17% of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4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Select appropriate compute solutions (VMs, containers, serverless, PaaS)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container strategies with AKS, Container Apps, and ACI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serverless solutions with Azure Functions and Logic Apps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application architecture patterns including messaging, caching, and API management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Compute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Differentiator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 OS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VMs / VMSS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Custom software, legacy apps, Windows/Linux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Container orchestration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 Kubernetes, complex microservices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Serverless 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Container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RECOMMENDED DEFAULT. Dapr, KEDA, simple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Event-driven 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Functions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Per-execution billing, triggers + bindings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Web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Managed PaaS, deployment slots, custom domains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Simple container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Container Instances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Quick burst, sidecar, no orchestration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Batch /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Large-scale parallel, job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Desktop apps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Virtual Desktop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VDI, multi-session Windows, RemoteApp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VM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Series Selection: </a:t>
            </a:r>
            <a:r>
              <a:rPr sz="1700">
                <a:solidFill>
                  <a:srgbClr val="000000"/>
                </a:solidFill>
                <a:latin typeface="Segoe UI"/>
              </a:rPr>
              <a:t>B (burstable, dev/test), D (general), E (memory, SAP/DB), N (GPU, AI/ML), L (storage, big data), F (compute-optimized)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VMSS: </a:t>
            </a:r>
            <a:r>
              <a:rPr sz="1700">
                <a:solidFill>
                  <a:srgbClr val="000000"/>
                </a:solidFill>
                <a:latin typeface="Segoe UI"/>
              </a:rPr>
              <a:t>Virtual Machine Scale Sets. Autoscale 0-1000 instances. Uniform (identical VMs) or Flexible (mixed) mode.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Proximity Placement Groups: </a:t>
            </a:r>
            <a:r>
              <a:rPr sz="1700">
                <a:solidFill>
                  <a:srgbClr val="000000"/>
                </a:solidFill>
                <a:latin typeface="Segoe UI"/>
              </a:rPr>
              <a:t>Co-locate VMs in same datacenter for lowest latency. Used with E/N series for SAP/HPC.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Dedicated Hosts: </a:t>
            </a:r>
            <a:r>
              <a:rPr sz="1700">
                <a:solidFill>
                  <a:srgbClr val="000000"/>
                </a:solidFill>
                <a:latin typeface="Segoe UI"/>
              </a:rPr>
              <a:t>Physical server dedicated to your org. Compliance, licensing (BYOL), isolated hardware.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Spot VMs: </a:t>
            </a:r>
            <a:r>
              <a:rPr sz="1700">
                <a:solidFill>
                  <a:srgbClr val="000000"/>
                </a:solidFill>
                <a:latin typeface="Segoe UI"/>
              </a:rPr>
              <a:t>Up to 90% discount, can be evicted. Batch jobs, dev/test, stateless workloads. NOT for production SLAs.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Ephemeral OS Disks: </a:t>
            </a:r>
            <a:r>
              <a:rPr sz="1700">
                <a:solidFill>
                  <a:srgbClr val="000000"/>
                </a:solidFill>
                <a:latin typeface="Segoe UI"/>
              </a:rPr>
              <a:t>Use local VM storage for OS disk. Faster reimaging, lower latency, no storage cost. Stateless VMs only.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App Service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Plans: </a:t>
            </a:r>
            <a:r>
              <a:rPr sz="1700">
                <a:solidFill>
                  <a:srgbClr val="000000"/>
                </a:solidFill>
                <a:latin typeface="Segoe UI"/>
              </a:rPr>
              <a:t>Free/Shared (dev) -&gt; Basic (dedicated, no scaling) -&gt; Standard (autoscale, slots) -&gt; Premium (more perf, VNet integration) -&gt; Isolated (ASE, full VNet)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Deployment Slots: </a:t>
            </a:r>
            <a:r>
              <a:rPr sz="1700">
                <a:solidFill>
                  <a:srgbClr val="000000"/>
                </a:solidFill>
                <a:latin typeface="Segoe UI"/>
              </a:rPr>
              <a:t>Swap staging to production with zero downtime. Slot-specific settings (connection strings, app settings).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VNet Integration: </a:t>
            </a:r>
            <a:r>
              <a:rPr sz="1700">
                <a:solidFill>
                  <a:srgbClr val="000000"/>
                </a:solidFill>
                <a:latin typeface="Segoe UI"/>
              </a:rPr>
              <a:t>Regional VNet integration (outbound from app to VNet). Private Endpoint (inbound to app from VNet).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Managed Certificates: </a:t>
            </a:r>
            <a:r>
              <a:rPr sz="1700">
                <a:solidFill>
                  <a:srgbClr val="000000"/>
                </a:solidFill>
                <a:latin typeface="Segoe UI"/>
              </a:rPr>
              <a:t>Free TLS certificates for custom domains in Standard+ plans. Auto-renewal.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Health Checks: </a:t>
            </a:r>
            <a:r>
              <a:rPr sz="1700">
                <a:solidFill>
                  <a:srgbClr val="000000"/>
                </a:solidFill>
                <a:latin typeface="Segoe UI"/>
              </a:rPr>
              <a:t>Built-in health check path. Removes unhealthy instances from LB rotation. Minimum 2 instances.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App Service Environment (ASE) v3: </a:t>
            </a:r>
            <a:r>
              <a:rPr sz="1700">
                <a:solidFill>
                  <a:srgbClr val="000000"/>
                </a:solidFill>
                <a:latin typeface="Segoe UI"/>
              </a:rPr>
              <a:t>Single-tenant, fully in your VNet. Internal LB for private-only apps. Zone redundant.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Container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Container Apps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ACI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 Kubernetes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Managed (Kubernetes under hood)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Cluster + pod autoscaler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KEDA (event-driven, 0 to 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Manual (1:1)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Full K8s networking, CNI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Built-in ingress, Envoy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VNet or public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Service Mesh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Istio, Linkerd, OSM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Dapr (built-in)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 (K8s expertise needed)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Low-Medium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Node VMs +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Per-request/vCPU+memory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Per-second vCPU+memory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Complex microservices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Most containerized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Simple tasks, burst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When K8s is mandated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DEFAULT for containers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Sidecar / quick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AKS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Node Pools: </a:t>
            </a:r>
            <a:r>
              <a:rPr sz="1700">
                <a:solidFill>
                  <a:srgbClr val="000000"/>
                </a:solidFill>
                <a:latin typeface="Segoe UI"/>
              </a:rPr>
              <a:t>System pool (CoreDNS, kube-proxy) + User pools (workloads). Different VM sizes per pool.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Cluster Autoscaler: </a:t>
            </a:r>
            <a:r>
              <a:rPr sz="1700">
                <a:solidFill>
                  <a:srgbClr val="000000"/>
                </a:solidFill>
                <a:latin typeface="Segoe UI"/>
              </a:rPr>
              <a:t>Scale nodes 0-100+ based on pending pods. Combine with Horizontal Pod Autoscaler.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Workload Identity: </a:t>
            </a:r>
            <a:r>
              <a:rPr sz="1700">
                <a:solidFill>
                  <a:srgbClr val="000000"/>
                </a:solidFill>
                <a:latin typeface="Segoe UI"/>
              </a:rPr>
              <a:t>Replace pod identity with federated OIDC tokens. Managed identity bound to K8s service account.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Ingress: </a:t>
            </a:r>
            <a:r>
              <a:rPr sz="1700">
                <a:solidFill>
                  <a:srgbClr val="000000"/>
                </a:solidFill>
                <a:latin typeface="Segoe UI"/>
              </a:rPr>
              <a:t>NGINX, Application Gateway Ingress Controller (AGIC), or managed NGINX. TLS termination at ingress.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Service Mesh: </a:t>
            </a:r>
            <a:r>
              <a:rPr sz="1700">
                <a:solidFill>
                  <a:srgbClr val="000000"/>
                </a:solidFill>
                <a:latin typeface="Segoe UI"/>
              </a:rPr>
              <a:t>Istio add-on (managed by Azure). mTLS, traffic management, observability.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When AKS is Warranted: </a:t>
            </a:r>
            <a:r>
              <a:rPr sz="1700">
                <a:solidFill>
                  <a:srgbClr val="000000"/>
                </a:solidFill>
                <a:latin typeface="Segoe UI"/>
              </a:rPr>
              <a:t>Team has K8s expertise, need for custom operators, complex networking, multi-cluster.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Container Apps with Dapr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Dapr Service Invocation: </a:t>
            </a:r>
            <a:r>
              <a:rPr sz="1700">
                <a:solidFill>
                  <a:srgbClr val="000000"/>
                </a:solidFill>
                <a:latin typeface="Segoe UI"/>
              </a:rPr>
              <a:t>Service-to-service calls with built-in retries, mTLS, and observability.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Dapr Pub/Sub: </a:t>
            </a:r>
            <a:r>
              <a:rPr sz="1700">
                <a:solidFill>
                  <a:srgbClr val="000000"/>
                </a:solidFill>
                <a:latin typeface="Segoe UI"/>
              </a:rPr>
              <a:t>Decouple services with topics. Supports Service Bus, Event Hubs, Redis as brokers.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Dapr State Management: </a:t>
            </a:r>
            <a:r>
              <a:rPr sz="1700">
                <a:solidFill>
                  <a:srgbClr val="000000"/>
                </a:solidFill>
                <a:latin typeface="Segoe UI"/>
              </a:rPr>
              <a:t>Pluggable state stores (Cosmos DB, Redis, SQL). Consistent API across stores.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Dapr Bindings: </a:t>
            </a:r>
            <a:r>
              <a:rPr sz="1700">
                <a:solidFill>
                  <a:srgbClr val="000000"/>
                </a:solidFill>
                <a:latin typeface="Segoe UI"/>
              </a:rPr>
              <a:t>Input/output bindings to external services (queues, databases, HTTP endpoints).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KEDA Scaling: </a:t>
            </a:r>
            <a:r>
              <a:rPr sz="1700">
                <a:solidFill>
                  <a:srgbClr val="000000"/>
                </a:solidFill>
                <a:latin typeface="Segoe UI"/>
              </a:rPr>
              <a:t>Scale to zero and back. Scale based on queue depth, HTTP requests, CPU, custom metrics.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Revisions &amp; Traffic Splitting: </a:t>
            </a:r>
            <a:r>
              <a:rPr sz="1700">
                <a:solidFill>
                  <a:srgbClr val="000000"/>
                </a:solidFill>
                <a:latin typeface="Segoe UI"/>
              </a:rPr>
              <a:t>Blue-green and canary deployments. Split traffic between revisions by percentage.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Jobs: </a:t>
            </a:r>
            <a:r>
              <a:rPr sz="1700">
                <a:solidFill>
                  <a:srgbClr val="000000"/>
                </a:solidFill>
                <a:latin typeface="Segoe UI"/>
              </a:rPr>
              <a:t>Run-to-completion tasks, scheduled (cron) or event-triggered. Parallel execution.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Serverless: Azure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69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828800"/>
                <a:gridCol w="914400"/>
                <a:gridCol w="164592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 Timeout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VNet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 Instances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Cost Model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 to 200 instances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 min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Per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10-100 instances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 (pre-warmed)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vCPU/memory/sec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Dedicated (App Svc)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Manual/autoscale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Plan-defined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 Service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40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Durable Functions: </a:t>
            </a:r>
            <a:r>
              <a:rPr sz="1600">
                <a:solidFill>
                  <a:srgbClr val="000000"/>
                </a:solidFill>
                <a:latin typeface="Segoe UI"/>
              </a:rPr>
              <a:t>Stateful workflows. Patterns: Chaining, Fan-out/Fan-in, Async HTTP, Monitor, Human interaction.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Triggers: </a:t>
            </a:r>
            <a:r>
              <a:rPr sz="1600">
                <a:solidFill>
                  <a:srgbClr val="000000"/>
                </a:solidFill>
                <a:latin typeface="Segoe UI"/>
              </a:rPr>
              <a:t>HTTP, Timer, Queue, Blob, Event Grid, Event Hub, Cosmos DB change feed, Service Bus.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Bindings: </a:t>
            </a:r>
            <a:r>
              <a:rPr sz="1600">
                <a:solidFill>
                  <a:srgbClr val="000000"/>
                </a:solidFill>
                <a:latin typeface="Segoe UI"/>
              </a:rPr>
              <a:t>Input (read data) and Output (write data) without SDK code. Declarative in function.json.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Cold Start: </a:t>
            </a:r>
            <a:r>
              <a:rPr sz="1600">
                <a:solidFill>
                  <a:srgbClr val="000000"/>
                </a:solidFill>
                <a:latin typeface="Segoe UI"/>
              </a:rPr>
              <a:t>Consumption plan has cold start latency. Use Premium plan or Flex Consumption to avoid.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Messaging Service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3657600"/>
                <a:gridCol w="29260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Commands /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Service 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Queues + Topics, sessions, FIFO, dead-letter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Order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Events / Notifications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 Grid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Push delivery, filtering, serverless 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Blob created, resource changed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Streaming /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Event Hubs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Millions/sec, partitions, Kafka compatible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IoT telemetry, clickstream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Simple queue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Storage Queue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64KB messages, millions queued, low 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Background jobs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2050"/>
                </a:solidFill>
                <a:latin typeface="Segoe UI"/>
              </a:defRPr>
            </a:pPr>
            <a:r>
              <a:t>Exam Rule of Thumb:</a:t>
            </a:r>
            <a:br/>
            <a:r>
              <a:t>  'Commands' or 'exactly once' = Service Bus</a:t>
            </a:r>
            <a:br/>
            <a:r>
              <a:t>  'Events' or 'react to changes' = Event Grid</a:t>
            </a:r>
            <a:br/>
            <a:r>
              <a:t>  'Stream' or 'millions of events' = Event Hubs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Application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Microservices: </a:t>
            </a:r>
            <a:r>
              <a:rPr sz="1700">
                <a:solidFill>
                  <a:srgbClr val="000000"/>
                </a:solidFill>
                <a:latin typeface="Segoe UI"/>
              </a:rPr>
              <a:t>Independent services with own data stores. Deploy, scale, update independently. Use with Container Apps or AKS.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Event-Driven: </a:t>
            </a:r>
            <a:r>
              <a:rPr sz="1700">
                <a:solidFill>
                  <a:srgbClr val="000000"/>
                </a:solidFill>
                <a:latin typeface="Segoe UI"/>
              </a:rPr>
              <a:t>Services react to events asynchronously. Event Grid for discrete events, Event Hubs for streaming.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CQRS: </a:t>
            </a:r>
            <a:r>
              <a:rPr sz="1700">
                <a:solidFill>
                  <a:srgbClr val="000000"/>
                </a:solidFill>
                <a:latin typeface="Segoe UI"/>
              </a:rPr>
              <a:t>Command Query Responsibility Segregation. Separate read and write models. Cosmos DB + SQL read replicas.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Saga Pattern: </a:t>
            </a:r>
            <a:r>
              <a:rPr sz="1700">
                <a:solidFill>
                  <a:srgbClr val="000000"/>
                </a:solidFill>
                <a:latin typeface="Segoe UI"/>
              </a:rPr>
              <a:t>Distributed transactions across services. Choreography (events) or Orchestration (coordinator).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Queue-Based Load Leveling: </a:t>
            </a:r>
            <a:r>
              <a:rPr sz="1700">
                <a:solidFill>
                  <a:srgbClr val="000000"/>
                </a:solidFill>
                <a:latin typeface="Segoe UI"/>
              </a:rPr>
              <a:t>Buffer requests with Service Bus queue. Backend processes at its own pace. Prevents overload.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Retry + Circuit Breaker: </a:t>
            </a:r>
            <a:r>
              <a:rPr sz="1700">
                <a:solidFill>
                  <a:srgbClr val="000000"/>
                </a:solidFill>
                <a:latin typeface="Segoe UI"/>
              </a:rPr>
              <a:t>Transient fault handling. Exponential backoff. Circuit breaker prevents cascading failures.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API Management (APIM)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1828800"/>
                <a:gridCol w="13716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Developer Portal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VNet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Multi-region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 traffic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Dev/test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Dedicated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Small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Dedicated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External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Dedicated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Internal + 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Policies: </a:t>
            </a:r>
            <a:r>
              <a:rPr sz="1600">
                <a:solidFill>
                  <a:srgbClr val="000000"/>
                </a:solidFill>
                <a:latin typeface="Segoe UI"/>
              </a:rPr>
              <a:t>Rate limiting (throttling), JWT validation, caching, request/response transformation, IP filtering.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Internal Mode: </a:t>
            </a:r>
            <a:r>
              <a:rPr sz="1600">
                <a:solidFill>
                  <a:srgbClr val="000000"/>
                </a:solidFill>
                <a:latin typeface="Segoe UI"/>
              </a:rPr>
              <a:t>APIM inside VNet with private IP only. Use App Gateway as frontend for public access.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Caching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188720"/>
                <a:gridCol w="56692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250MB - 53GB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 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Dev/test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250MB - 53GB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Replication, production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6GB - 120GB per shard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Clustering, persistence, VNet, geo-replication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12GB - 2TB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RediSearch, RedisBloom, RedisTimeSeries, active geo-replication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931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Cache-Aside Pattern: </a:t>
            </a:r>
            <a:r>
              <a:rPr sz="1600">
                <a:solidFill>
                  <a:srgbClr val="000000"/>
                </a:solidFill>
                <a:latin typeface="Segoe UI"/>
              </a:rPr>
              <a:t>App checks cache first. On miss, reads from DB, writes to cache. Most common pattern.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Session Store: </a:t>
            </a:r>
            <a:r>
              <a:rPr sz="1600">
                <a:solidFill>
                  <a:srgbClr val="000000"/>
                </a:solidFill>
                <a:latin typeface="Segoe UI"/>
              </a:rPr>
              <a:t>Store session state in Redis instead of in-memory. Enables stateless app tier with sticky sessions off.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  <a:latin typeface="Segoe UI"/>
              </a:defRPr>
            </a:pPr>
            <a:r>
              <a:rPr sz="1600" b="1">
                <a:solidFill>
                  <a:srgbClr val="000000"/>
                </a:solidFill>
                <a:latin typeface="Segoe UI"/>
              </a:rPr>
              <a:t>• Output Caching: </a:t>
            </a:r>
            <a:r>
              <a:rPr sz="1600">
                <a:solidFill>
                  <a:srgbClr val="000000"/>
                </a:solidFill>
                <a:latin typeface="Segoe UI"/>
              </a:rPr>
              <a:t>Cache rendered pages or API responses. Reduce backend load for read-heavy workloads.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4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6" name="Lightning Bolt 5"/>
          <p:cNvSpPr/>
          <p:nvPr/>
        </p:nvSpPr>
        <p:spPr>
          <a:xfrm>
            <a:off x="731520" y="1371600"/>
            <a:ext cx="548640" cy="548640"/>
          </a:xfrm>
          <a:prstGeom prst="lightningBol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050"/>
                </a:solidFill>
                <a:latin typeface="Segoe UI"/>
              </a:defRPr>
            </a:pPr>
            <a:r>
              <a:t>Live Demo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Container Apps + Dapr: </a:t>
            </a:r>
            <a:r>
              <a:rPr sz="1800">
                <a:solidFill>
                  <a:srgbClr val="000000"/>
                </a:solidFill>
                <a:latin typeface="Segoe UI"/>
              </a:rPr>
              <a:t>Deploy a microservice app with Dapr pub/sub and KEDA scaling to zero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Functions + Service Bus: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an Azure Function triggered by a Service Bus queue message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APIM Policies: </a:t>
            </a:r>
            <a:r>
              <a:rPr sz="1800">
                <a:solidFill>
                  <a:srgbClr val="000000"/>
                </a:solidFill>
                <a:latin typeface="Segoe UI"/>
              </a:rPr>
              <a:t>Configure rate limiting and JWT validation policies on an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App Service Deployment Slots: </a:t>
            </a:r>
            <a:r>
              <a:rPr sz="1800">
                <a:solidFill>
                  <a:srgbClr val="000000"/>
                </a:solidFill>
                <a:latin typeface="Segoe UI"/>
              </a:rPr>
              <a:t>Deploy to staging slot, test, then swap to production with zero downtime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4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EXAM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Container Apps is the DEFAULT container recommendation. Choose AKS only when full Kubernetes control is needed.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AKS when: </a:t>
            </a:r>
            <a:r>
              <a:rPr sz="1800">
                <a:solidFill>
                  <a:srgbClr val="002050"/>
                </a:solidFill>
                <a:latin typeface="Segoe UI"/>
              </a:rPr>
              <a:t>Custom operators, advanced networking (CNI), multi-cluster, team has K8s expertise.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Service Bus for commands (ordered, transactional). Event Grid for events (reactive, push). Do not confuse them.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Event Hubs for streaming (high volume, partitioned, Kafka). Not for request/response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APIM for API governance: </a:t>
            </a:r>
            <a:r>
              <a:rPr sz="1800">
                <a:solidFill>
                  <a:srgbClr val="002050"/>
                </a:solidFill>
                <a:latin typeface="Segoe UI"/>
              </a:rPr>
              <a:t>rate limiting, versioning, developer portal. Internal mode for private APIs.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rPr sz="1800" b="1">
                <a:solidFill>
                  <a:srgbClr val="002050"/>
                </a:solidFill>
                <a:latin typeface="Segoe UI"/>
              </a:rPr>
              <a:t>• Durable Functions for stateful serverless: </a:t>
            </a:r>
            <a:r>
              <a:rPr sz="1800">
                <a:solidFill>
                  <a:srgbClr val="002050"/>
                </a:solidFill>
                <a:latin typeface="Segoe UI"/>
              </a:rPr>
              <a:t>function chaining, fan-out/fan-in, human interaction patterns.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4 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4: Compute &amp;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Q1: Your team wants to deploy containerized microservices with event-driven autoscaling (including scale to zero) and built-in service-to-service communication. They do not have Kubernetes expertise. What do you recommend?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Container Apps with Dapr enabled and KEDA scaling rules. Provides event-driven scaling, service invocation, pub/sub, and state management without Kubernetes complexity.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Q2: An order processing system must guarantee FIFO (first-in-first-out) message delivery with exactly-once processing and dead-letter support. Which messaging service?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Service Bus with sessions enabled for FIFO ordering. Service Bus provides exactly-once delivery, dead-letter queues, and session-based ordering. Storage Queue does NOT support FIFO.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Q3: You need to expose internal APIs to external partners with rate limiting, API key authentication, and a developer portal. The APIs must only be accessible through the gateway. What do you design?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API Management (Standard or Premium tier). Configure rate-limit policies, subscription keys, and developer portal. Premium with internal VNet mode if APIs must be fully private.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Networking</a:t>
            </a:r>
            <a:br/>
            <a:r>
              <a:t>&amp; Migrations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931920" cy="731520"/>
          </a:xfrm>
          <a:prstGeom prst="round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200" b="1">
                <a:solidFill>
                  <a:srgbClr val="002050"/>
                </a:solidFill>
                <a:latin typeface="Segoe UI Semibold"/>
              </a:defRPr>
            </a:pPr>
            <a:r>
              <a:t>~18% of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5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network solutions including VNets, hub-spoke, and Virtual WAN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hybrid connectivity with VPN Gateway and ExpressRoute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Design network security with Azure Firewall, NSGs, and DDoS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Segoe UI"/>
              </a:defRPr>
            </a:pPr>
            <a:r>
              <a:t>• Plan and design migration strategies using Azure Migrate and CAF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VNet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Address Space Planning: </a:t>
            </a:r>
            <a:r>
              <a:rPr sz="1700">
                <a:solidFill>
                  <a:srgbClr val="000000"/>
                </a:solidFill>
                <a:latin typeface="Segoe UI"/>
              </a:rPr>
              <a:t>Use RFC 1918 ranges (10.0.0.0/8, 172.16.0.0/12, 192.168.0.0/16). Plan for growth.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Non-Overlapping Addresses: </a:t>
            </a:r>
            <a:r>
              <a:rPr sz="1700">
                <a:solidFill>
                  <a:srgbClr val="000000"/>
                </a:solidFill>
                <a:latin typeface="Segoe UI"/>
              </a:rPr>
              <a:t>Critical for peering and VPN. Hub and spokes must have unique CIDR ranges.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Subnets: </a:t>
            </a:r>
            <a:r>
              <a:rPr sz="1700">
                <a:solidFill>
                  <a:srgbClr val="000000"/>
                </a:solidFill>
                <a:latin typeface="Segoe UI"/>
              </a:rPr>
              <a:t>Segment by workload type. Some services require dedicated subnets (AKS, App Service VNet Integration, Bastion, Firewall).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NSGs: </a:t>
            </a:r>
            <a:r>
              <a:rPr sz="1700">
                <a:solidFill>
                  <a:srgbClr val="000000"/>
                </a:solidFill>
                <a:latin typeface="Segoe UI"/>
              </a:rPr>
              <a:t>Network Security Groups. Layer 4 (IP, port, protocol) rules. Attach to subnet or NIC. Processed by priority (100-4096).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ASGs: </a:t>
            </a:r>
            <a:r>
              <a:rPr sz="1700">
                <a:solidFill>
                  <a:srgbClr val="000000"/>
                </a:solidFill>
                <a:latin typeface="Segoe UI"/>
              </a:rPr>
              <a:t>Application Security Groups. Group VMs logically (web, app, db). Use in NSG rules instead of IP addresses.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Service Endpoints vs Private Endpoints: </a:t>
            </a:r>
            <a:r>
              <a:rPr sz="1700">
                <a:solidFill>
                  <a:srgbClr val="000000"/>
                </a:solidFill>
                <a:latin typeface="Segoe UI"/>
              </a:rPr>
              <a:t>SE = optimized route, still public IP. PE = private IP in your VNet. PE is preferred (Zero Trust).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Hub-Spoke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Hub VNet: </a:t>
            </a:r>
            <a:r>
              <a:rPr sz="1700">
                <a:solidFill>
                  <a:srgbClr val="000000"/>
                </a:solidFill>
                <a:latin typeface="Segoe UI"/>
              </a:rPr>
              <a:t>Centralized shared services -- Azure Firewall, VPN Gateway, ExpressRoute Gateway, Bastion, DNS.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Spoke VNets: </a:t>
            </a:r>
            <a:r>
              <a:rPr sz="1700">
                <a:solidFill>
                  <a:srgbClr val="000000"/>
                </a:solidFill>
                <a:latin typeface="Segoe UI"/>
              </a:rPr>
              <a:t>Workload isolation. Each spoke is a separate VNet peered to the hub.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Peering: </a:t>
            </a:r>
            <a:r>
              <a:rPr sz="1700">
                <a:solidFill>
                  <a:srgbClr val="000000"/>
                </a:solidFill>
                <a:latin typeface="Segoe UI"/>
              </a:rPr>
              <a:t>VNet peering is non-transitive. Spoke A cannot reach Spoke B through the hub without UDR + Firewall/NVA.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UDRs (User-Defined Routes): </a:t>
            </a:r>
            <a:r>
              <a:rPr sz="1700">
                <a:solidFill>
                  <a:srgbClr val="000000"/>
                </a:solidFill>
                <a:latin typeface="Segoe UI"/>
              </a:rPr>
              <a:t>Force spoke traffic through the hub Firewall. 0.0.0.0/0 -&gt; Firewall private IP.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Gateway Transit: </a:t>
            </a:r>
            <a:r>
              <a:rPr sz="1700">
                <a:solidFill>
                  <a:srgbClr val="000000"/>
                </a:solidFill>
                <a:latin typeface="Segoe UI"/>
              </a:rPr>
              <a:t>Hub's VPN/ER gateway shared with spokes. Enable 'Allow gateway transit' on hub, 'Use remote gateways' on spoke.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DNS: </a:t>
            </a:r>
            <a:r>
              <a:rPr sz="1700">
                <a:solidFill>
                  <a:srgbClr val="000000"/>
                </a:solidFill>
                <a:latin typeface="Segoe UI"/>
              </a:rPr>
              <a:t>Azure Private DNS Zones linked to hub. Spoke VNets use hub's DNS or Azure DNS Private Resolver.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Scale: </a:t>
            </a:r>
            <a:r>
              <a:rPr sz="1700">
                <a:solidFill>
                  <a:srgbClr val="000000"/>
                </a:solidFill>
                <a:latin typeface="Segoe UI"/>
              </a:rPr>
              <a:t>Suitable for up to ~10-15 spokes. Beyond that, consider Virtual WAN.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Azure Virtual 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Managed Hub-Spoke: </a:t>
            </a:r>
            <a:r>
              <a:rPr sz="1700">
                <a:solidFill>
                  <a:srgbClr val="000000"/>
                </a:solidFill>
                <a:latin typeface="Segoe UI"/>
              </a:rPr>
              <a:t>Microsoft manages the hub router, VPN/ER gateways, routing tables.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When to Use: </a:t>
            </a:r>
            <a:r>
              <a:rPr sz="1700">
                <a:solidFill>
                  <a:srgbClr val="000000"/>
                </a:solidFill>
                <a:latin typeface="Segoe UI"/>
              </a:rPr>
              <a:t>10+ branch offices, global transit (any-to-any), SD-WAN integration, multiple ER circuits.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Hub: </a:t>
            </a:r>
            <a:r>
              <a:rPr sz="1700">
                <a:solidFill>
                  <a:srgbClr val="000000"/>
                </a:solidFill>
                <a:latin typeface="Segoe UI"/>
              </a:rPr>
              <a:t>Virtual WAN hub is a managed VNet. You cannot deploy custom VMs inside it (except NVAs from marketplace).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Routing: </a:t>
            </a:r>
            <a:r>
              <a:rPr sz="1700">
                <a:solidFill>
                  <a:srgbClr val="000000"/>
                </a:solidFill>
                <a:latin typeface="Segoe UI"/>
              </a:rPr>
              <a:t>Automatic any-to-any connectivity between spokes, branches, and ExpressRoute. Route tables for segmentation.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Secured Virtual Hub: </a:t>
            </a:r>
            <a:r>
              <a:rPr sz="1700">
                <a:solidFill>
                  <a:srgbClr val="000000"/>
                </a:solidFill>
                <a:latin typeface="Segoe UI"/>
              </a:rPr>
              <a:t>Integrated Azure Firewall Manager for centralized security policies.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vs Manual Hub-Spoke: </a:t>
            </a:r>
            <a:r>
              <a:rPr sz="1700">
                <a:solidFill>
                  <a:srgbClr val="000000"/>
                </a:solidFill>
                <a:latin typeface="Segoe UI"/>
              </a:rPr>
              <a:t>Virtual WAN = less control, more automation, better for scale. Manual = more control, better for customization.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Hybrid Connectivity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VPN Gateway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ExpressRoute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Over public internet (encrypted)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Private connection (NOT encrypted by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Up to 10 Gbps (VpnGw5)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50 Mbps to 100 Gbps (Direct)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Variable (internet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Predictable, low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Redundancy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Active-active with 2 tunnels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Dual circuits to different peering locations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Lower (gateway + data egress)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Higher (circuit + gateway + provider fees)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Setup 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Minutes to hours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Days to weeks (provider circuit)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Dev/test, backup path, small offices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Production, latency-sensitive, large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Max Resilience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VPN + ExpressRoute together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 ER circuits + VPN as backup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ExpressRoute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Peering Types: </a:t>
            </a:r>
            <a:r>
              <a:rPr sz="1700">
                <a:solidFill>
                  <a:srgbClr val="000000"/>
                </a:solidFill>
                <a:latin typeface="Segoe UI"/>
              </a:rPr>
              <a:t>Azure Private Peering (VNets), Microsoft Peering (M365, Dynamics, Azure PaaS public IPs).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ExpressRoute Direct: </a:t>
            </a:r>
            <a:r>
              <a:rPr sz="1700">
                <a:solidFill>
                  <a:srgbClr val="000000"/>
                </a:solidFill>
                <a:latin typeface="Segoe UI"/>
              </a:rPr>
              <a:t>Dedicated 10/100 Gbps port pair at peering location. Massive data transfer, MACsec encryption.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Global Reach: </a:t>
            </a:r>
            <a:r>
              <a:rPr sz="1700">
                <a:solidFill>
                  <a:srgbClr val="000000"/>
                </a:solidFill>
                <a:latin typeface="Segoe UI"/>
              </a:rPr>
              <a:t>Connect on-prem sites through Microsoft backbone. Site A (ER) &lt;-&gt; Microsoft &lt;-&gt; Site B (ER). No VPN needed.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FastPath: </a:t>
            </a:r>
            <a:r>
              <a:rPr sz="1700">
                <a:solidFill>
                  <a:srgbClr val="000000"/>
                </a:solidFill>
                <a:latin typeface="Segoe UI"/>
              </a:rPr>
              <a:t>Bypass the ExpressRoute gateway for data-plane traffic. Ultra performance for latency-sensitive workloads.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Encryption: </a:t>
            </a:r>
            <a:r>
              <a:rPr sz="1700">
                <a:solidFill>
                  <a:srgbClr val="000000"/>
                </a:solidFill>
                <a:latin typeface="Segoe UI"/>
              </a:rPr>
              <a:t>ExpressRoute is NOT encrypted by default. Use MACsec (Direct) or IPsec VPN over ER for encryption.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Billing: </a:t>
            </a:r>
            <a:r>
              <a:rPr sz="1700">
                <a:solidFill>
                  <a:srgbClr val="000000"/>
                </a:solidFill>
                <a:latin typeface="Segoe UI"/>
              </a:rPr>
              <a:t>Unlimited data (flat rate) or Metered data (per GB egress). Premium add-on for global route access.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Network Security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1 - DDoS Protection: </a:t>
            </a:r>
            <a:r>
              <a:rPr sz="1700">
                <a:solidFill>
                  <a:srgbClr val="000000"/>
                </a:solidFill>
                <a:latin typeface="Segoe UI"/>
              </a:rPr>
              <a:t>Standard plan for VNet resources. Adaptive tuning, cost protection, rapid response.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2 - Azure Front Door WAF: </a:t>
            </a:r>
            <a:r>
              <a:rPr sz="1700">
                <a:solidFill>
                  <a:srgbClr val="000000"/>
                </a:solidFill>
                <a:latin typeface="Segoe UI"/>
              </a:rPr>
              <a:t>Global HTTP protection. OWASP rules, bot protection, geo-filtering, rate limiting.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3 - Azure Firewall: </a:t>
            </a:r>
            <a:r>
              <a:rPr sz="1700">
                <a:solidFill>
                  <a:srgbClr val="000000"/>
                </a:solidFill>
                <a:latin typeface="Segoe UI"/>
              </a:rPr>
              <a:t>Centralized egress and east-west filtering. FQDN rules, threat intelligence, TLS inspection.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4 - NSGs: </a:t>
            </a:r>
            <a:r>
              <a:rPr sz="1700">
                <a:solidFill>
                  <a:srgbClr val="000000"/>
                </a:solidFill>
                <a:latin typeface="Segoe UI"/>
              </a:rPr>
              <a:t>Distributed L4 filtering at subnet and NIC. Allow/deny by IP, port, protocol. Flow logs for visibility.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5 - Application Identity: </a:t>
            </a:r>
            <a:r>
              <a:rPr sz="1700">
                <a:solidFill>
                  <a:srgbClr val="000000"/>
                </a:solidFill>
                <a:latin typeface="Segoe UI"/>
              </a:rPr>
              <a:t>Managed identity, RBAC, service endpoints/private endpoints. No network path = no attack surface.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Layer 6 - Encryption: </a:t>
            </a:r>
            <a:r>
              <a:rPr sz="1700">
                <a:solidFill>
                  <a:srgbClr val="000000"/>
                </a:solidFill>
                <a:latin typeface="Segoe UI"/>
              </a:rPr>
              <a:t>TLS in transit, SSE/TDE at rest, Always Encrypted in use. End-to-end protection.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Firewall vs NSG vs NVA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  <a:gridCol w="256032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NSG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Azure Firewall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NVA (3rd Party)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OSI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L3-L4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L3-L7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L3-L7 (vendor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~$1.25/hr + data 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 cost + license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Distributed (per subnet/NIC)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Centralized in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Self-managed or vendor 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FQDN Filtering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(application rules)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(vendor dependent)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TLS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(Premium)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(most vendors)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Threat Intelligence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(alert/deny known bad IPs)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 (vendor feeds)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Micro-segmentation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Centralized egress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2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Specific vendor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Private Link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Private Endpoint: </a:t>
            </a:r>
            <a:r>
              <a:rPr sz="1700">
                <a:solidFill>
                  <a:srgbClr val="000000"/>
                </a:solidFill>
                <a:latin typeface="Segoe UI"/>
              </a:rPr>
              <a:t>NIC with a private IP from your VNet, connected to an Azure service via Private Link.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Private DNS Zone: </a:t>
            </a:r>
            <a:r>
              <a:rPr sz="1700">
                <a:solidFill>
                  <a:srgbClr val="000000"/>
                </a:solidFill>
                <a:latin typeface="Segoe UI"/>
              </a:rPr>
              <a:t>Maps service FQDN (e.g., mydb.database.windows.net) to the PE private IP.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DNS Resolution Flow: </a:t>
            </a:r>
            <a:r>
              <a:rPr sz="1700">
                <a:solidFill>
                  <a:srgbClr val="000000"/>
                </a:solidFill>
                <a:latin typeface="Segoe UI"/>
              </a:rPr>
              <a:t>Client -&gt; Azure DNS -&gt; privatelink zone -&gt; PE private IP -&gt; Service (via Microsoft backbone).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Disable Public Access: </a:t>
            </a:r>
            <a:r>
              <a:rPr sz="1700">
                <a:solidFill>
                  <a:srgbClr val="000000"/>
                </a:solidFill>
                <a:latin typeface="Segoe UI"/>
              </a:rPr>
              <a:t>Once PE is configured, disable public network access on the service for full Zero Trust.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On-Prem Access: </a:t>
            </a:r>
            <a:r>
              <a:rPr sz="1700">
                <a:solidFill>
                  <a:srgbClr val="000000"/>
                </a:solidFill>
                <a:latin typeface="Segoe UI"/>
              </a:rPr>
              <a:t>DNS conditional forwarder for privatelink.* zones -&gt; Azure DNS (168.63.129.16) via VPN/ER.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Private Link Service: </a:t>
            </a:r>
            <a:r>
              <a:rPr sz="1700">
                <a:solidFill>
                  <a:srgbClr val="000000"/>
                </a:solidFill>
                <a:latin typeface="Segoe UI"/>
              </a:rPr>
              <a:t>Expose YOUR services behind a Standard LB as Private Link endpoints for consumers in other VNets/tenants.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Load Balancing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2743200"/>
                <a:gridCol w="539496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HTTP(S)?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Front Door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CDN, WAF, SSL offload, path routing, caching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Traffic Manager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DNS-based, health probes, priority/weighted/geographic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Regional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Application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L7 LB, WAF, SSL termination, URL routing, rewrite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Regional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Load Balancer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L4 LB, HA Ports, cross-region (Global tier)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2050"/>
                </a:solidFill>
                <a:latin typeface="Segoe UI"/>
              </a:defRPr>
            </a:pPr>
            <a:r>
              <a:t>Common Combo: Front Door (global) -&gt; Application Gateway (regional WAF) -&gt; Load Balancer (backend VMs).</a:t>
            </a:r>
            <a:br/>
            <a:r>
              <a:t>Exam Shortcut: 'Global + HTTP' = Front Door. 'Regional + HTTP' = App Gateway. 'Non-HTTP' = LB or Traffic Manager.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Migration Strategies (5 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371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Azure Service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Rehost (Lift &amp; Shift)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Move as-is to Azure 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Migrate, 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Replatform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Minor optimizations during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Low-Medium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MI, App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Re-architect for cloud-native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Container Apps, Functions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Rebuild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Rewrite from scratch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New cloud-native 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Replace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Switch to SaaS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M365, Dynamics, SaaS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CAF Migration Phases: Discover -&gt; Assess -&gt; Plan -&gt; Migrate -&gt; Optimize -&gt; Govern -&gt; Manage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Migration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89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566928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Capability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Migrate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Discovery + assessment +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VM, DB, web app, VDI assessment. Agentless or agent-based.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Database Migration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Database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Server, PostgreSQL, MySQL to Azure. Online (minimal downtime) + Offline.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Data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Offline large data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100TB (Data Box) or 1PB (Data Box Heavy). Ship physical device.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App Service Migration Assistant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Web app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Assess IIS/.NET apps, migrate to App Service.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Azure Migrate: Server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VMware (agentless), Hyper-V, physical. Continuous replication.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Storage Migration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File server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3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Migrate Windows file servers to Azure Files or Windows VMs.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5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6" name="Lightning Bolt 5"/>
          <p:cNvSpPr/>
          <p:nvPr/>
        </p:nvSpPr>
        <p:spPr>
          <a:xfrm>
            <a:off x="731520" y="1371600"/>
            <a:ext cx="548640" cy="548640"/>
          </a:xfrm>
          <a:prstGeom prst="lightningBol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050"/>
                </a:solidFill>
                <a:latin typeface="Segoe UI"/>
              </a:defRPr>
            </a:pPr>
            <a:r>
              <a:t>Live Demo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Hub-Spoke + Peering: </a:t>
            </a:r>
            <a:r>
              <a:rPr sz="1800">
                <a:solidFill>
                  <a:srgbClr val="000000"/>
                </a:solidFill>
                <a:latin typeface="Segoe UI"/>
              </a:rPr>
              <a:t>Create hub VNet with Firewall, spoke VNets with peering and UDRs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Private Endpoint + DNS: </a:t>
            </a:r>
            <a:r>
              <a:rPr sz="1800">
                <a:solidFill>
                  <a:srgbClr val="000000"/>
                </a:solidFill>
                <a:latin typeface="Segoe UI"/>
              </a:rPr>
              <a:t>Create a Private Endpoint for a storage account with Private DNS Zone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NSG + Firewall: </a:t>
            </a:r>
            <a:r>
              <a:rPr sz="1800">
                <a:solidFill>
                  <a:srgbClr val="000000"/>
                </a:solidFill>
                <a:latin typeface="Segoe UI"/>
              </a:rPr>
              <a:t>Configure NSG micro-segmentation and Azure Firewall application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  <a:latin typeface="Segoe UI"/>
              </a:defRPr>
            </a:pPr>
            <a:r>
              <a:rPr sz="1800" b="1">
                <a:solidFill>
                  <a:srgbClr val="000000"/>
                </a:solidFill>
                <a:latin typeface="Segoe UI"/>
              </a:rPr>
              <a:t>• Azure Migrate Assessment: </a:t>
            </a:r>
            <a:r>
              <a:rPr sz="1800">
                <a:solidFill>
                  <a:srgbClr val="000000"/>
                </a:solidFill>
                <a:latin typeface="Segoe UI"/>
              </a:rPr>
              <a:t>Run a migration assessment for an on-premises environment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5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EXAM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ExpressRoute is NOT encrypted by default. If a question asks for encrypted private connectivity, add IPsec VPN over ER or use MACsec (Direct).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Private Endpoint + Private DNS Zone = Zero Trust networking. Default recommendation for all data services.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Azure Firewall for centralized egress control. UDRs force spoke traffic through the hub firewall.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Front Door for global HTTP. App Gateway for regional HTTP. Load Balancer for regional non-HTTP. Traffic Manager for DNS-based global.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SQL Managed Instance = migration sweet spot. Near 100% SQL Server compat with fully managed PaaS. First choice for SQL migration.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2050"/>
                </a:solidFill>
                <a:latin typeface="Segoe UI"/>
              </a:defRPr>
            </a:pPr>
            <a:r>
              <a:t>• Virtual WAN for scale (10+ branches). Manual hub-spoke for customization and smaller environments.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Segment 5 Review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Segment 5: Networking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Q1: Your company has 50 branch offices connecting to Azure. They need any-to-any connectivity between branches and Azure VNets with centralized security policies. What do you recommend?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Azure Virtual WAN with Secured Virtual Hub (integrated Firewall Manager). Provides managed routing, automatic any-to-any connectivity, and centralized security at scale for 50+ branches.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Q2: An application in a spoke VNet needs to access Azure SQL Database without any traffic traversing the public internet. How do you design this?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Create a Private Endpoint for Azure SQL in the spoke VNet (or hub). Configure Private DNS Zone (privatelink.database.windows.net). Disable public access on SQL. UDR routes through hub firewall if cross-spoke.</a:t>
            </a:r>
          </a:p>
          <a:p>
            <a:pPr>
              <a:spcBef>
                <a:spcPts val="1400"/>
              </a:spcBef>
              <a:defRPr sz="1600" b="1">
                <a:solidFill>
                  <a:srgbClr val="002050"/>
                </a:solidFill>
                <a:latin typeface="Segoe UI"/>
              </a:defRPr>
            </a:pPr>
            <a:r>
              <a:t>Q3: You are migrating 200 SQL Server databases from on-prem. Most use SQL Agent, cross-database queries, and CLR. You want minimal application changes. What is your migration target and tool?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00A36C"/>
                </a:solidFill>
                <a:latin typeface="Segoe UI"/>
              </a:defRPr>
            </a:pPr>
            <a:r>
              <a:t>   Answer: Target: Azure SQL Managed Instance (supports all three features). Tool: Azure Database Migration Service (DMS) in online mode for minimal downtime. Assess with Azure Migrate first.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Course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5 Segments, 3 Cross-Cutting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Theme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Takeaway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 Identity &amp;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Who &amp; What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Managed Identity + PHS + PIM +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2. Data Storage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Store &amp; Protect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SQL MI + Cosmos DB + Private Endpoints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3. BCDR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Survive &amp; Recover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AZ + Failover Groups + ASR +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4. Compute &amp; Apps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Build &amp;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Container Apps + Service Bus + APIM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5. Network &amp;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Connect &amp; 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4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Hub-Spoke + ExpressRoute + Azure Migrate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Everywhere: Well-Architected Framework | Zero Trust | Managed Identity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Exam Day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Pace: </a:t>
            </a:r>
            <a:r>
              <a:rPr sz="1700">
                <a:solidFill>
                  <a:srgbClr val="000000"/>
                </a:solidFill>
                <a:latin typeface="Segoe UI"/>
              </a:rPr>
              <a:t>~2 minutes per question. 40-60 questions in 120 minutes. Do NOT spend 5+ minutes on one question.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Case Studies: </a:t>
            </a:r>
            <a:r>
              <a:rPr sz="1700">
                <a:solidFill>
                  <a:srgbClr val="000000"/>
                </a:solidFill>
                <a:latin typeface="Segoe UI"/>
              </a:rPr>
              <a:t>Read the questions FIRST, then scan the case study for relevant details. Do not read the entire case study top-to-bottom.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Elimination: </a:t>
            </a:r>
            <a:r>
              <a:rPr sz="1700">
                <a:solidFill>
                  <a:srgbClr val="000000"/>
                </a:solidFill>
                <a:latin typeface="Segoe UI"/>
              </a:rPr>
              <a:t>Remove obviously wrong answers first. Usually 1-2 are clearly wrong. Then compare remaining options.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Flag &amp; Return: </a:t>
            </a:r>
            <a:r>
              <a:rPr sz="1700">
                <a:solidFill>
                  <a:srgbClr val="000000"/>
                </a:solidFill>
                <a:latin typeface="Segoe UI"/>
              </a:rPr>
              <a:t>Flag uncertain questions and return after completing all others. Fresh perspective helps.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No Penalty: </a:t>
            </a:r>
            <a:r>
              <a:rPr sz="1700">
                <a:solidFill>
                  <a:srgbClr val="000000"/>
                </a:solidFill>
                <a:latin typeface="Segoe UI"/>
              </a:rPr>
              <a:t>There is NO penalty for guessing. NEVER leave a question blank. Always select your best guess.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Multiple Correct: </a:t>
            </a:r>
            <a:r>
              <a:rPr sz="1700">
                <a:solidFill>
                  <a:srgbClr val="000000"/>
                </a:solidFill>
                <a:latin typeface="Segoe UI"/>
              </a:rPr>
              <a:t>Some questions have multiple correct answers but ask for the BEST answer. Look for 'most cost-effective', 'least effort', 'most secure'.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Read Carefully: </a:t>
            </a:r>
            <a:r>
              <a:rPr sz="1700">
                <a:solidFill>
                  <a:srgbClr val="000000"/>
                </a:solidFill>
                <a:latin typeface="Segoe UI"/>
              </a:rPr>
              <a:t>Watch for qualifiers: 'minimum', 'maximum', 'only', 'must', 'should'. These change the correct answer.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Study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Microsoft Learn: </a:t>
            </a:r>
            <a:r>
              <a:rPr sz="1700">
                <a:solidFill>
                  <a:srgbClr val="000000"/>
                </a:solidFill>
                <a:latin typeface="Segoe UI"/>
              </a:rPr>
              <a:t>Free learning paths aligned to AZ-305 exam objectives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AZ-305 Study Guide: </a:t>
            </a:r>
            <a:r>
              <a:rPr sz="1700">
                <a:solidFill>
                  <a:srgbClr val="000000"/>
                </a:solidFill>
                <a:latin typeface="Segoe UI"/>
              </a:rPr>
              <a:t>https://aka.ms/AZ305-StudyGuide -- official skills measured document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Practice Assessment: </a:t>
            </a:r>
            <a:r>
              <a:rPr sz="1700">
                <a:solidFill>
                  <a:srgbClr val="000000"/>
                </a:solidFill>
                <a:latin typeface="Segoe UI"/>
              </a:rPr>
              <a:t>Free practice questions on Microsoft Learn -- take at least 3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Exam Sandbox: </a:t>
            </a:r>
            <a:r>
              <a:rPr sz="1700">
                <a:solidFill>
                  <a:srgbClr val="000000"/>
                </a:solidFill>
                <a:latin typeface="Segoe UI"/>
              </a:rPr>
              <a:t>https://aka.ms/examdemo -- experience the exam interface before test 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Azure Architecture Center: </a:t>
            </a:r>
            <a:r>
              <a:rPr sz="1700">
                <a:solidFill>
                  <a:srgbClr val="000000"/>
                </a:solidFill>
                <a:latin typeface="Segoe UI"/>
              </a:rPr>
              <a:t>https://learn.microsoft.com/azure/architecture/ -- reference architectures, patterns, best practices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Well-Architected Framework: </a:t>
            </a:r>
            <a:r>
              <a:rPr sz="1700">
                <a:solidFill>
                  <a:srgbClr val="000000"/>
                </a:solidFill>
                <a:latin typeface="Segoe UI"/>
              </a:rPr>
              <a:t>https://learn.microsoft.com/azure/well-architected/ -- 5 pillars deep dive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GitHub Labs: </a:t>
            </a:r>
            <a:r>
              <a:rPr sz="1700">
                <a:solidFill>
                  <a:srgbClr val="000000"/>
                </a:solidFill>
                <a:latin typeface="Segoe UI"/>
              </a:rPr>
              <a:t>https://github.com/MicrosoftLearning/AZ-305-DesigningMicrosoftAzureInfrastructureSolutions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000000"/>
                </a:solidFill>
                <a:latin typeface="Segoe UI"/>
              </a:defRPr>
            </a:pPr>
            <a:r>
              <a:rPr sz="1700" b="1">
                <a:solidFill>
                  <a:srgbClr val="000000"/>
                </a:solidFill>
                <a:latin typeface="Segoe UI"/>
              </a:rPr>
              <a:t>• This Course Repo: </a:t>
            </a:r>
            <a:r>
              <a:rPr sz="1700">
                <a:solidFill>
                  <a:srgbClr val="000000"/>
                </a:solidFill>
                <a:latin typeface="Segoe UI"/>
              </a:rPr>
              <a:t>Contains all demo scripts, Bicep templates, and practice questions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Semibold"/>
              </a:defRPr>
            </a:pPr>
            <a:r>
              <a:t>Three Prioritized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1188720"/>
          </a:xfrm>
          <a:prstGeom prst="roundRect">
            <a:avLst/>
          </a:prstGeom>
          <a:solidFill>
            <a:srgbClr val="00A3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B900"/>
                </a:solidFill>
                <a:latin typeface="Segoe UI Semibold"/>
              </a:rPr>
              <a:t>[IMMEDIATE]  </a:t>
            </a:r>
            <a:r>
              <a:rPr sz="1800">
                <a:solidFill>
                  <a:srgbClr val="FFFFFF"/>
                </a:solidFill>
                <a:latin typeface="Segoe UI"/>
              </a:rPr>
              <a:t>Take the Microsoft Learn practice assessment TODAY. Identify your weak areas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51560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B900"/>
                </a:solidFill>
                <a:latin typeface="Segoe UI Semibold"/>
              </a:rPr>
              <a:t>[SHORT-TERM]  </a:t>
            </a:r>
            <a:r>
              <a:rPr sz="1800">
                <a:solidFill>
                  <a:srgbClr val="FFFFFF"/>
                </a:solidFill>
                <a:latin typeface="Segoe UI"/>
              </a:rPr>
              <a:t>Build 3 architectures in an Azure sandbox THIS WEEK: hub-spoke networking, SQL failover group, Container Apps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515600" cy="1188720"/>
          </a:xfrm>
          <a:prstGeom prst="roundRect">
            <a:avLst/>
          </a:prstGeom>
          <a:solidFill>
            <a:srgbClr val="771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B900"/>
                </a:solidFill>
                <a:latin typeface="Segoe UI Semibold"/>
              </a:rPr>
              <a:t>[LONG-TERM]  </a:t>
            </a:r>
            <a:r>
              <a:rPr sz="1800">
                <a:solidFill>
                  <a:srgbClr val="FFFFFF"/>
                </a:solidFill>
                <a:latin typeface="Segoe UI"/>
              </a:rPr>
              <a:t>Schedule the AZ-305 exam within 2 WEEKS. A deadline creates urgency. You have the knowledge -- go prove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Semibold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B900"/>
                </a:solidFill>
                <a:latin typeface="Segoe UI"/>
              </a:defRPr>
            </a:pPr>
            <a:r>
              <a:t>Questions? Let's discuss!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Tim Warner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timothywarner316@gmail.com  |  @TechTrainerTim</a:t>
            </a:r>
            <a:br/>
            <a:r>
              <a:t>O'Reilly Live Learning</a:t>
            </a:r>
            <a:br/>
            <a:r>
              <a:t>Microsoft MVP  |  MCT  |  Azure Solutions Architect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44444"/>
                </a:solidFill>
                <a:latin typeface="Segoe UI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